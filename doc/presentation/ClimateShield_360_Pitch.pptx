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4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12192000" cy="6858000"/>
  <p:embeddedFontLst>
    <p:embeddedFont>
      <p:font typeface="MiSans" charset="-122" pitchFamily="34"/>
      <p:regular r:id="rId13"/>
    </p:embeddedFont>
    <p:embeddedFont>
      <p:font typeface="Archivo Black" charset="-122" pitchFamily="34"/>
      <p:regular r:id="rId14"/>
    </p:embeddedFont>
    <p:embeddedFont>
      <p:font typeface="JetBrains Mono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charts/chart4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24h persistence baseline</c:v>
          </c:tx>
          <c:spPr>
            <a:solidFill>
              <a:srgbClr val="9AA7B4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900" noProof="1" b="0" i="0" u="none" strike="noStrike">
                    <a:solidFill>
                      <a:srgbClr val="5B6B7E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2"/>
              <c:pt idx="0">
                <c:v>Rainfall MAE (mm)</c:v>
              </c:pt>
              <c:pt idx="1">
                <c:v>Rainfall RMSE (mm)</c:v>
              </c:pt>
            </c:strLit>
          </c:cat>
          <c:val>
            <c:numLit>
              <c:formatCode>General</c:formatCode>
              <c:ptCount val="2"/>
              <c:pt idx="0">
                <c:v>0.1055</c:v>
              </c:pt>
              <c:pt idx="1">
                <c:v>0.6417</c:v>
              </c:pt>
            </c:numLit>
          </c:val>
        </c:ser>
        <c:ser>
          <c:idx val="1"/>
          <c:order val="1"/>
          <c:tx>
            <c:v>ClimateShield LightGBM</c:v>
          </c:tx>
          <c:spPr>
            <a:solidFill>
              <a:srgbClr val="11B0AB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900" noProof="1" b="0" i="0" u="none" strike="noStrike">
                    <a:solidFill>
                      <a:srgbClr val="0C7C78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2"/>
              <c:pt idx="0">
                <c:v>Rainfall MAE (mm)</c:v>
              </c:pt>
              <c:pt idx="1">
                <c:v>Rainfall RMSE (mm)</c:v>
              </c:pt>
            </c:strLit>
          </c:cat>
          <c:val>
            <c:numLit>
              <c:formatCode>General</c:formatCode>
              <c:ptCount val="2"/>
              <c:pt idx="0">
                <c:v>0.0685</c:v>
              </c:pt>
              <c:pt idx="1">
                <c:v>0.3979</c:v>
              </c:pt>
            </c:numLit>
          </c:val>
        </c:ser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B9C6C3"/>
            </a:solidFill>
          </a:ln>
        </c:spPr>
        <c:txPr>
          <a:bodyPr/>
          <a:lstStyle/>
          <a:p>
            <a:pPr>
              <a:defRPr sz="1000" noProof="1" b="0" i="0" u="none" strike="noStrike">
                <a:solidFill>
                  <a:srgbClr val="152238"/>
                </a:solidFill>
                <a:latin typeface="Mi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0.7000000000000001"/>
          <c:min val="0"/>
        </c:scaling>
        <c:delete val="0"/>
        <c:axPos val="l"/>
        <c:majorGridlines>
          <c:spPr>
            <a:ln w="12700">
              <a:solidFill>
                <a:srgbClr val="E3EAE8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noProof="1" b="0" i="0" u="none" strike="noStrike">
                <a:solidFill>
                  <a:srgbClr val="5B6B7E"/>
                </a:solidFill>
                <a:latin typeface="MiSans"/>
              </a:defRPr>
            </a:pPr>
            <a:endParaRPr lang="en-US" noProof="1"/>
          </a:p>
        </c:txPr>
        <c:crossAx val="1"/>
        <c:crosses val="autoZero"/>
        <c:crossBetween val="between"/>
        <c:majorUnit val="0.1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950" noProof="1" b="0" i="0" u="none" strike="noStrike">
              <a:solidFill>
                <a:srgbClr val="5B6B7E"/>
              </a:solidFill>
              <a:latin typeface="MiSans"/>
            </a:defRPr>
          </a:pPr>
          <a:endParaRPr lang="en-US" noProof="1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MiSans"/>
        </a:defRPr>
      </a:pPr>
      <a:endParaRPr lang="en-US" noProof="1"/>
    </a:p>
  </c:tx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_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photo"/>
          <p:cNvPicPr/>
          <p:nvPr/>
        </p:nvPicPr>
        <p:blipFill>
          <a:blip r:embed="rId2"/>
          <a:srcRect l="15432" r="15432"/>
          <a:stretch>
            <a:fillRect/>
          </a:stretch>
        </p:blipFill>
        <p:spPr>
          <a:xfrm>
            <a:off x="5080000" y="0"/>
            <a:ext cx="7112000" cy="6858000"/>
          </a:xfrm>
          <a:prstGeom prst="rect">
            <a:avLst/>
          </a:prstGeom>
          <a:ln>
            <a:noFill/>
          </a:ln>
        </p:spPr>
      </p:pic>
      <p:sp>
        <p:nvSpPr>
          <p:cNvPr id="3" name="bg-overlay"/>
          <p:cNvSpPr/>
          <p:nvPr/>
        </p:nvSpPr>
        <p:spPr>
          <a:xfrm>
            <a:off x="5080000" y="0"/>
            <a:ext cx="7112000" cy="6858000"/>
          </a:xfrm>
          <a:prstGeom prst="rect">
            <a:avLst/>
          </a:prstGeom>
          <a:gradFill rotWithShape="1">
            <a:gsLst>
              <a:gs pos="0">
                <a:srgbClr val="0A1428">
                  <a:alpha val="96078"/>
                </a:srgbClr>
              </a:gs>
              <a:gs pos="55000">
                <a:srgbClr val="0A1428">
                  <a:alpha val="70196"/>
                </a:srgbClr>
              </a:gs>
              <a:gs pos="100000">
                <a:srgbClr val="0A1428">
                  <a:alpha val="7843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top-tick"/>
          <p:cNvSpPr/>
          <p:nvPr/>
        </p:nvSpPr>
        <p:spPr>
          <a:xfrm>
            <a:off x="609600" y="457200"/>
            <a:ext cx="5334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pic>
        <p:nvPicPr>
          <p:cNvPr id="5" name="logo"/>
          <p:cNvPicPr/>
          <p:nvPr/>
        </p:nvPicPr>
        <p:blipFill>
          <a:blip r:embed="rId3"/>
          <a:srcRect l="-48" r="-48"/>
          <a:stretch>
            <a:fillRect/>
          </a:stretch>
        </p:blipFill>
        <p:spPr>
          <a:xfrm>
            <a:off x="609600" y="635000"/>
            <a:ext cx="2260600" cy="1778000"/>
          </a:xfrm>
          <a:prstGeom prst="rect">
            <a:avLst/>
          </a:prstGeom>
          <a:ln>
            <a:noFill/>
          </a:ln>
        </p:spPr>
      </p:pic>
      <p:sp>
        <p:nvSpPr>
          <p:cNvPr id="6" name="title"/>
          <p:cNvSpPr txBox="1"/>
          <p:nvPr/>
        </p:nvSpPr>
        <p:spPr>
          <a:xfrm>
            <a:off x="609600" y="3429000"/>
            <a:ext cx="81280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0000"/>
              </a:lnSpc>
            </a:pPr>
            <a:r>
              <a:rPr lang="en-US" sz="4600" noProof="1">
                <a:solidFill>
                  <a:srgbClr val="FFFFFF"/>
                </a:solidFill>
                <a:latin typeface="Archivo Black"/>
                <a:ea typeface="Archivo Black"/>
              </a:rPr>
              <a:t>CLIMATESHIELD</a:t>
            </a:r>
            <a:endParaRPr lang="en-US" sz="4600" noProof="1"/>
          </a:p>
          <a:p>
            <a:pPr algn="l">
              <a:lnSpc>
                <a:spcPct val="110000"/>
              </a:lnSpc>
            </a:pPr>
            <a:r>
              <a:rPr lang="en-US" sz="4600" noProof="1">
                <a:solidFill>
                  <a:srgbClr val="35CFC9"/>
                </a:solidFill>
                <a:latin typeface="Archivo Black"/>
                <a:ea typeface="Archivo Black"/>
              </a:rPr>
              <a:t>360</a:t>
            </a:r>
            <a:endParaRPr lang="en-US" sz="4600" noProof="1"/>
          </a:p>
        </p:txBody>
      </p:sp>
      <p:sp>
        <p:nvSpPr>
          <p:cNvPr id="7" name="subtitle"/>
          <p:cNvSpPr txBox="1"/>
          <p:nvPr/>
        </p:nvSpPr>
        <p:spPr>
          <a:xfrm>
            <a:off x="609600" y="5029200"/>
            <a:ext cx="685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250" noProof="1">
                <a:solidFill>
                  <a:srgbClr val="C7D2E0"/>
                </a:solidFill>
                <a:latin typeface="MiSans"/>
                <a:ea typeface="MiSans"/>
              </a:rPr>
              <a:t>Extreme-weather predictive intelligence and operational crisis decisions for Karachi — from raw multi-source telemetry to life-saving civic action.</a:t>
            </a:r>
            <a:endParaRPr lang="en-US" sz="1250" noProof="1"/>
          </a:p>
        </p:txBody>
      </p:sp>
      <p:sp>
        <p:nvSpPr>
          <p:cNvPr id="8" name="divider"/>
          <p:cNvSpPr/>
          <p:nvPr/>
        </p:nvSpPr>
        <p:spPr>
          <a:xfrm>
            <a:off x="609600" y="5740400"/>
            <a:ext cx="6858000" cy="12700"/>
          </a:xfrm>
          <a:prstGeom prst="rect">
            <a:avLst/>
          </a:prstGeom>
          <a:solidFill>
            <a:srgbClr val="2A3B5C"/>
          </a:solidFill>
          <a:ln>
            <a:noFill/>
          </a:ln>
        </p:spPr>
      </p:sp>
      <p:sp>
        <p:nvSpPr>
          <p:cNvPr id="9" name="meta"/>
          <p:cNvSpPr txBox="1"/>
          <p:nvPr/>
        </p:nvSpPr>
        <p:spPr>
          <a:xfrm>
            <a:off x="609600" y="5892800"/>
            <a:ext cx="787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050" noProof="1">
                <a:solidFill>
                  <a:srgbClr val="8EA0B8"/>
                </a:solidFill>
                <a:latin typeface="MiSans"/>
                <a:ea typeface="MiSans"/>
              </a:rPr>
              <a:t>Syed Muhammad Hunain · Muhammad Afzal · Makshoof Kamal Jilani</a:t>
            </a:r>
            <a:endParaRPr lang="en-US" sz="1050" noProof="1"/>
          </a:p>
          <a:p>
            <a:pPr algn="l">
              <a:lnSpc>
                <a:spcPct val="170000"/>
              </a:lnSpc>
            </a:pPr>
            <a:r>
              <a:rPr lang="en-US" sz="1050" noProof="1">
                <a:solidFill>
                  <a:srgbClr val="8EA0B8"/>
                </a:solidFill>
                <a:latin typeface="MiSans"/>
                <a:ea typeface="MiSans"/>
              </a:rPr>
              <a:t>HackInsight 2026 · Climate Track (Data-to-Decision) · 5–7 minute pitch</a:t>
            </a:r>
            <a:endParaRPr lang="en-US" sz="10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11B0AB"/>
                </a:solidFill>
                <a:latin typeface="MiSans"/>
                <a:ea typeface="MiSans"/>
              </a:rPr>
              <a:t>01 · THE CHALLENGE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52238"/>
                </a:solidFill>
                <a:latin typeface="Archivo Black"/>
                <a:ea typeface="Archivo Black"/>
              </a:rPr>
              <a:t>Karachi's compounding climate vulnerability</a:t>
            </a:r>
            <a:endParaRPr lang="en-US" sz="2500" noProof="1"/>
          </a:p>
        </p:txBody>
      </p:sp>
      <p:sp>
        <p:nvSpPr>
          <p:cNvPr id="4" name="tick"/>
          <p:cNvSpPr/>
          <p:nvPr/>
        </p:nvSpPr>
        <p:spPr>
          <a:xfrm>
            <a:off x="609600" y="1219200"/>
            <a:ext cx="4572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5" name="big-num"/>
          <p:cNvSpPr txBox="1"/>
          <p:nvPr/>
        </p:nvSpPr>
        <p:spPr>
          <a:xfrm>
            <a:off x="609600" y="15494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600" noProof="1">
                <a:solidFill>
                  <a:srgbClr val="2E9B52"/>
                </a:solidFill>
                <a:latin typeface="Archivo Black"/>
                <a:ea typeface="Archivo Black"/>
              </a:rPr>
              <a:t>16M+</a:t>
            </a:r>
            <a:endParaRPr lang="en-US" sz="5600" noProof="1"/>
          </a:p>
        </p:txBody>
      </p:sp>
      <p:sp>
        <p:nvSpPr>
          <p:cNvPr id="6" name="big-label"/>
          <p:cNvSpPr txBox="1"/>
          <p:nvPr/>
        </p:nvSpPr>
        <p:spPr>
          <a:xfrm>
            <a:off x="609600" y="25146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B6B7E"/>
                </a:solidFill>
                <a:latin typeface="MiSans"/>
                <a:ea typeface="MiSans"/>
              </a:rPr>
              <a:t>residents of Pakistan's economic lifeline exposed to monsoon flash floods and urban heat-island extremes</a:t>
            </a:r>
            <a:endParaRPr lang="en-US" sz="1100" noProof="1"/>
          </a:p>
        </p:txBody>
      </p:sp>
      <p:sp>
        <p:nvSpPr>
          <p:cNvPr id="7" name="rule-1"/>
          <p:cNvSpPr/>
          <p:nvPr/>
        </p:nvSpPr>
        <p:spPr>
          <a:xfrm>
            <a:off x="609600" y="3200400"/>
            <a:ext cx="45720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8" name="item1-title"/>
          <p:cNvSpPr txBox="1"/>
          <p:nvPr/>
        </p:nvSpPr>
        <p:spPr>
          <a:xfrm>
            <a:off x="609600" y="3378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52238"/>
                </a:solidFill>
                <a:latin typeface="MiSans"/>
                <a:ea typeface="MiSans"/>
              </a:rPr>
              <a:t>The decision-maker's dilemma</a:t>
            </a:r>
            <a:endParaRPr lang="en-US" sz="1250" noProof="1"/>
          </a:p>
        </p:txBody>
      </p:sp>
      <p:sp>
        <p:nvSpPr>
          <p:cNvPr id="9" name="item1-body"/>
          <p:cNvSpPr txBox="1"/>
          <p:nvPr/>
        </p:nvSpPr>
        <p:spPr>
          <a:xfrm>
            <a:off x="609600" y="36576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PDMA Sindh and Rescue 1122 rely on delayed macro-forecasts and static thresholds that cannot capture district-level microclimates.</a:t>
            </a:r>
            <a:endParaRPr lang="en-US" sz="950" noProof="1"/>
          </a:p>
        </p:txBody>
      </p:sp>
      <p:sp>
        <p:nvSpPr>
          <p:cNvPr id="10" name="rule-2"/>
          <p:cNvSpPr/>
          <p:nvPr/>
        </p:nvSpPr>
        <p:spPr>
          <a:xfrm>
            <a:off x="609600" y="4318000"/>
            <a:ext cx="45720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11" name="item2-title"/>
          <p:cNvSpPr txBox="1"/>
          <p:nvPr/>
        </p:nvSpPr>
        <p:spPr>
          <a:xfrm>
            <a:off x="609600" y="4495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52238"/>
                </a:solidFill>
                <a:latin typeface="MiSans"/>
                <a:ea typeface="MiSans"/>
              </a:rPr>
              <a:t>Fragmented data silos</a:t>
            </a:r>
            <a:endParaRPr lang="en-US" sz="1250" noProof="1"/>
          </a:p>
        </p:txBody>
      </p:sp>
      <p:sp>
        <p:nvSpPr>
          <p:cNvPr id="12" name="item2-body"/>
          <p:cNvSpPr txBox="1"/>
          <p:nvPr/>
        </p:nvSpPr>
        <p:spPr>
          <a:xfrm>
            <a:off x="609600" y="47752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Meteorological feeds, river gauges, census demographics, and critical healthcare facilities sit in disconnected systems.</a:t>
            </a:r>
            <a:endParaRPr lang="en-US" sz="950" noProof="1"/>
          </a:p>
        </p:txBody>
      </p:sp>
      <p:sp>
        <p:nvSpPr>
          <p:cNvPr id="13" name="rule-3"/>
          <p:cNvSpPr/>
          <p:nvPr/>
        </p:nvSpPr>
        <p:spPr>
          <a:xfrm>
            <a:off x="609600" y="5435600"/>
            <a:ext cx="45720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14" name="mission-bar"/>
          <p:cNvSpPr/>
          <p:nvPr/>
        </p:nvSpPr>
        <p:spPr>
          <a:xfrm>
            <a:off x="609600" y="5613400"/>
            <a:ext cx="38100" cy="6350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15" name="mission-text"/>
          <p:cNvSpPr txBox="1"/>
          <p:nvPr/>
        </p:nvSpPr>
        <p:spPr>
          <a:xfrm>
            <a:off x="787400" y="5613400"/>
            <a:ext cx="4394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 b="1">
                <a:solidFill>
                  <a:srgbClr val="152238"/>
                </a:solidFill>
                <a:latin typeface="MiSans"/>
                <a:ea typeface="MiSans"/>
              </a:rPr>
              <a:t>Our mission</a:t>
            </a:r>
            <a:r>
              <a:rPr lang="en-US" sz="1050" noProof="1">
                <a:solidFill>
                  <a:srgbClr val="152238"/>
                </a:solidFill>
                <a:latin typeface="MiSans"/>
                <a:ea typeface="MiSans"/>
              </a:rPr>
              <a:t> — an end-to-end platform that turns raw multi-source telemetry into life-saving civic emergency decisions.</a:t>
            </a:r>
            <a:endParaRPr lang="en-US" sz="1050" noProof="1"/>
          </a:p>
        </p:txBody>
      </p:sp>
      <p:pic>
        <p:nvPicPr>
          <p:cNvPr id="16" name="hero-img"/>
          <p:cNvPicPr/>
          <p:nvPr/>
        </p:nvPicPr>
        <p:blipFill>
          <a:blip r:embed="rId2"/>
          <a:srcRect l="13730" r="13730"/>
          <a:stretch>
            <a:fillRect/>
          </a:stretch>
        </p:blipFill>
        <p:spPr>
          <a:xfrm>
            <a:off x="5689600" y="1549400"/>
            <a:ext cx="5892800" cy="4089400"/>
          </a:xfrm>
          <a:prstGeom prst="rect">
            <a:avLst/>
          </a:prstGeom>
          <a:ln>
            <a:noFill/>
          </a:ln>
        </p:spPr>
      </p:pic>
      <p:sp>
        <p:nvSpPr>
          <p:cNvPr id="17" name="hero-img-border"/>
          <p:cNvSpPr/>
          <p:nvPr/>
        </p:nvSpPr>
        <p:spPr>
          <a:xfrm>
            <a:off x="5689600" y="1549400"/>
            <a:ext cx="5892800" cy="4089400"/>
          </a:xfrm>
          <a:prstGeom prst="rect">
            <a:avLst/>
          </a:prstGeom>
          <a:noFill/>
          <a:ln w="12700">
            <a:solidFill>
              <a:srgbClr val="DCE4E2"/>
            </a:solidFill>
          </a:ln>
        </p:spPr>
      </p:sp>
      <p:sp>
        <p:nvSpPr>
          <p:cNvPr id="18" name="hero-caption"/>
          <p:cNvSpPr txBox="1"/>
          <p:nvPr/>
        </p:nvSpPr>
        <p:spPr>
          <a:xfrm>
            <a:off x="5689600" y="5740400"/>
            <a:ext cx="589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8494A3"/>
                </a:solidFill>
                <a:latin typeface="MiSans"/>
                <a:ea typeface="MiSans"/>
              </a:rPr>
              <a:t>Concept visual — district risk overlays across Karachi's coastline under monsoon conditions.</a:t>
            </a:r>
            <a:endParaRPr lang="en-US" sz="900" noProof="1"/>
          </a:p>
        </p:txBody>
      </p:sp>
      <p:sp>
        <p:nvSpPr>
          <p:cNvPr id="19" name="footer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609600" y="66167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50" kern="0">
                <a:solidFill>
                  <a:srgbClr val="8494A3"/>
                </a:solidFill>
                <a:latin typeface="MiSans"/>
                <a:ea typeface="MiSans"/>
              </a:rPr>
              <a:t>CLIMATESHIELD 360 — HACKINSIGHT 2026 · CLIMATE TRACK</a:t>
            </a:r>
            <a:endParaRPr lang="en-US" sz="800" noProof="1"/>
          </a:p>
        </p:txBody>
      </p:sp>
      <p:sp>
        <p:nvSpPr>
          <p:cNvPr id="21" name="footer-page"/>
          <p:cNvSpPr txBox="1"/>
          <p:nvPr/>
        </p:nvSpPr>
        <p:spPr>
          <a:xfrm>
            <a:off x="10160000" y="6616700"/>
            <a:ext cx="1422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02 / 10</a:t>
            </a:r>
            <a:endParaRPr lang="en-US" sz="8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11B0AB"/>
                </a:solidFill>
                <a:latin typeface="MiSans"/>
                <a:ea typeface="MiSans"/>
              </a:rPr>
              <a:t>02 · PIPELINE AND DATA GOVERNANCE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52238"/>
                </a:solidFill>
                <a:latin typeface="Archivo Black"/>
                <a:ea typeface="Archivo Black"/>
              </a:rPr>
              <a:t>Continuous multi-source ingestion into one analytical core</a:t>
            </a:r>
            <a:endParaRPr lang="en-US" sz="2500" noProof="1"/>
          </a:p>
        </p:txBody>
      </p:sp>
      <p:sp>
        <p:nvSpPr>
          <p:cNvPr id="4" name="tick"/>
          <p:cNvSpPr/>
          <p:nvPr/>
        </p:nvSpPr>
        <p:spPr>
          <a:xfrm>
            <a:off x="609600" y="1219200"/>
            <a:ext cx="4572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5" name="node-sources"/>
          <p:cNvSpPr/>
          <p:nvPr/>
        </p:nvSpPr>
        <p:spPr>
          <a:xfrm>
            <a:off x="609600" y="1524000"/>
            <a:ext cx="25400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2"/>
            </a:solidFill>
          </a:ln>
        </p:spPr>
      </p:sp>
      <p:sp>
        <p:nvSpPr>
          <p:cNvPr id="6" name="node-sources-head"/>
          <p:cNvSpPr/>
          <p:nvPr/>
        </p:nvSpPr>
        <p:spPr>
          <a:xfrm>
            <a:off x="609600" y="1524000"/>
            <a:ext cx="2540000" cy="330200"/>
          </a:xfrm>
          <a:prstGeom prst="rect">
            <a:avLst/>
          </a:prstGeom>
          <a:solidFill>
            <a:srgbClr val="101E3C"/>
          </a:solidFill>
          <a:ln>
            <a:noFill/>
          </a:ln>
        </p:spPr>
      </p:sp>
      <p:sp>
        <p:nvSpPr>
          <p:cNvPr id="7" name="node-sources-headtext"/>
          <p:cNvSpPr txBox="1"/>
          <p:nvPr/>
        </p:nvSpPr>
        <p:spPr>
          <a:xfrm>
            <a:off x="609600" y="15748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 spc="150" kern="0">
                <a:solidFill>
                  <a:srgbClr val="FFFFFF"/>
                </a:solidFill>
                <a:latin typeface="MiSans"/>
                <a:ea typeface="MiSans"/>
              </a:rPr>
              <a:t>6 AGENCY CONNECTORS</a:t>
            </a:r>
            <a:endParaRPr lang="en-US" sz="950" noProof="1"/>
          </a:p>
        </p:txBody>
      </p:sp>
      <p:sp>
        <p:nvSpPr>
          <p:cNvPr id="8" name="node-sources-list"/>
          <p:cNvSpPr txBox="1"/>
          <p:nvPr/>
        </p:nvSpPr>
        <p:spPr>
          <a:xfrm>
            <a:off x="762000" y="1981200"/>
            <a:ext cx="2235200" cy="332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950" noProof="1" b="1">
                <a:solidFill>
                  <a:srgbClr val="152238"/>
                </a:solidFill>
                <a:latin typeface="MiSans"/>
                <a:ea typeface="MiSans"/>
              </a:rPr>
              <a:t>Open-Meteo API</a:t>
            </a:r>
            <a:r>
              <a:rPr lang="en-US" sz="950" noProof="1">
                <a:solidFill>
                  <a:srgbClr val="152238"/>
                </a:solidFill>
                <a:latin typeface="MiSans"/>
                <a:ea typeface="MiSans"/>
              </a:rPr>
              <a:t> — hourly weather across 12 cities</a:t>
            </a:r>
            <a:endParaRPr lang="en-US" sz="9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950" noProof="1" b="1">
                <a:solidFill>
                  <a:srgbClr val="152238"/>
                </a:solidFill>
                <a:latin typeface="MiSans"/>
                <a:ea typeface="MiSans"/>
              </a:rPr>
              <a:t>GloFAS / Copernicus</a:t>
            </a:r>
            <a:r>
              <a:rPr lang="en-US" sz="950" noProof="1">
                <a:solidFill>
                  <a:srgbClr val="152238"/>
                </a:solidFill>
                <a:latin typeface="MiSans"/>
                <a:ea typeface="MiSans"/>
              </a:rPr>
              <a:t> — river discharge and flood forecasts</a:t>
            </a:r>
            <a:endParaRPr lang="en-US" sz="9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950" noProof="1" b="1">
                <a:solidFill>
                  <a:srgbClr val="152238"/>
                </a:solidFill>
                <a:latin typeface="MiSans"/>
                <a:ea typeface="MiSans"/>
              </a:rPr>
              <a:t>PMD Flood Division</a:t>
            </a:r>
            <a:r>
              <a:rPr lang="en-US" sz="950" noProof="1">
                <a:solidFill>
                  <a:srgbClr val="152238"/>
                </a:solidFill>
                <a:latin typeface="MiSans"/>
                <a:ea typeface="MiSans"/>
              </a:rPr>
              <a:t> — river danger thresholds, advisories</a:t>
            </a:r>
            <a:endParaRPr lang="en-US" sz="9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950" noProof="1" b="1">
                <a:solidFill>
                  <a:srgbClr val="152238"/>
                </a:solidFill>
                <a:latin typeface="MiSans"/>
                <a:ea typeface="MiSans"/>
              </a:rPr>
              <a:t>PBS Census 2023</a:t>
            </a:r>
            <a:r>
              <a:rPr lang="en-US" sz="950" noProof="1">
                <a:solidFill>
                  <a:srgbClr val="152238"/>
                </a:solidFill>
                <a:latin typeface="MiSans"/>
                <a:ea typeface="MiSans"/>
              </a:rPr>
              <a:t> — district demographics, vulnerability</a:t>
            </a:r>
            <a:endParaRPr lang="en-US" sz="9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950" noProof="1" b="1">
                <a:solidFill>
                  <a:srgbClr val="152238"/>
                </a:solidFill>
                <a:latin typeface="MiSans"/>
                <a:ea typeface="MiSans"/>
              </a:rPr>
              <a:t>OSM / Geofabrik</a:t>
            </a:r>
            <a:r>
              <a:rPr lang="en-US" sz="950" noProof="1">
                <a:solidFill>
                  <a:srgbClr val="152238"/>
                </a:solidFill>
                <a:latin typeface="MiSans"/>
                <a:ea typeface="MiSans"/>
              </a:rPr>
              <a:t> — roads, hospitals, schools, shelters</a:t>
            </a:r>
            <a:endParaRPr lang="en-US" sz="9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950" noProof="1" b="1">
                <a:solidFill>
                  <a:srgbClr val="152238"/>
                </a:solidFill>
                <a:latin typeface="MiSans"/>
                <a:ea typeface="MiSans"/>
              </a:rPr>
              <a:t>NDMA</a:t>
            </a:r>
            <a:r>
              <a:rPr lang="en-US" sz="950" noProof="1">
                <a:solidFill>
                  <a:srgbClr val="152238"/>
                </a:solidFill>
                <a:latin typeface="MiSans"/>
                <a:ea typeface="MiSans"/>
              </a:rPr>
              <a:t> — official alerts and contingency plans</a:t>
            </a:r>
            <a:endParaRPr lang="en-US" sz="950" noProof="1"/>
          </a:p>
        </p:txBody>
      </p:sp>
      <p:sp>
        <p:nvSpPr>
          <p:cNvPr id="9" name="arrow-1"/>
          <p:cNvSpPr/>
          <p:nvPr>
            <p:extLst>
              <p:ext uri="{F5677B7D-0D2A-4D9B-9A5C-6D8D7D0E5A5D}">
                <pptd:line encoding="base64url">eyJ2aWV3Qm94IjpbMjYsNl0sInBvaW50cyI6IjAsMyAyNiwzIiwiY3VydmUiOiJzaGFycCJ9</pptd:line>
              </p:ext>
            </p:extLst>
          </p:nvPr>
        </p:nvSpPr>
        <p:spPr>
          <a:xfrm>
            <a:off x="3200400" y="3429000"/>
            <a:ext cx="330200" cy="76200"/>
          </a:xfrm>
          <a:custGeom>
            <a:avLst/>
            <a:gdLst/>
            <a:ahLst/>
            <a:cxnLst/>
            <a:rect l="l" t="t" r="r" b="b"/>
            <a:pathLst>
              <a:path w="26" h="6">
                <a:moveTo>
                  <a:pt x="0" y="3"/>
                </a:moveTo>
                <a:lnTo>
                  <a:pt x="26" y="3"/>
                </a:lnTo>
              </a:path>
            </a:pathLst>
          </a:custGeom>
          <a:noFill/>
          <a:ln w="25400">
            <a:solidFill>
              <a:srgbClr val="11B0AB"/>
            </a:solidFill>
            <a:tailEnd type="arrow"/>
          </a:ln>
        </p:spPr>
      </p:sp>
      <p:sp>
        <p:nvSpPr>
          <p:cNvPr id="10" name="node-ingest"/>
          <p:cNvSpPr/>
          <p:nvPr/>
        </p:nvSpPr>
        <p:spPr>
          <a:xfrm>
            <a:off x="3581400" y="2819400"/>
            <a:ext cx="16510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2"/>
            </a:solidFill>
          </a:ln>
        </p:spPr>
      </p:sp>
      <p:sp>
        <p:nvSpPr>
          <p:cNvPr id="11" name="node-ingest-accent"/>
          <p:cNvSpPr/>
          <p:nvPr/>
        </p:nvSpPr>
        <p:spPr>
          <a:xfrm>
            <a:off x="3581400" y="2819400"/>
            <a:ext cx="16510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12" name="node-ingest-title"/>
          <p:cNvSpPr txBox="1"/>
          <p:nvPr/>
        </p:nvSpPr>
        <p:spPr>
          <a:xfrm>
            <a:off x="3708400" y="2971800"/>
            <a:ext cx="1397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 b="1">
                <a:solidFill>
                  <a:srgbClr val="101E3C"/>
                </a:solidFill>
                <a:latin typeface="MiSans"/>
                <a:ea typeface="MiSans"/>
              </a:rPr>
              <a:t>AUTOMATED INGEST DAEMON</a:t>
            </a:r>
            <a:endParaRPr lang="en-US" sz="1000" noProof="1"/>
          </a:p>
        </p:txBody>
      </p:sp>
      <p:sp>
        <p:nvSpPr>
          <p:cNvPr id="13" name="node-ingest-sub"/>
          <p:cNvSpPr txBox="1"/>
          <p:nvPr/>
        </p:nvSpPr>
        <p:spPr>
          <a:xfrm>
            <a:off x="3708400" y="3429000"/>
            <a:ext cx="1397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850" noProof="1">
                <a:solidFill>
                  <a:srgbClr val="5B6B7E"/>
                </a:solidFill>
                <a:latin typeface="MiSans"/>
                <a:ea typeface="MiSans"/>
              </a:rPr>
              <a:t>hourly scheduling · automated anomaly tracking · schema contracts</a:t>
            </a:r>
            <a:endParaRPr lang="en-US" sz="850" noProof="1"/>
          </a:p>
        </p:txBody>
      </p:sp>
      <p:sp>
        <p:nvSpPr>
          <p:cNvPr id="14" name="arrow-2"/>
          <p:cNvSpPr/>
          <p:nvPr>
            <p:extLst>
              <p:ext uri="{F5677B7D-0D2A-4D9B-9A5C-6D8D7D0E5A5D}">
                <pptd:line encoding="base64url">eyJ2aWV3Qm94IjpbMjYsNl0sInBvaW50cyI6IjAsMyAyNiwzIiwiY3VydmUiOiJzaGFycCJ9</pptd:line>
              </p:ext>
            </p:extLst>
          </p:nvPr>
        </p:nvSpPr>
        <p:spPr>
          <a:xfrm>
            <a:off x="5283200" y="3429000"/>
            <a:ext cx="330200" cy="76200"/>
          </a:xfrm>
          <a:custGeom>
            <a:avLst/>
            <a:gdLst/>
            <a:ahLst/>
            <a:cxnLst/>
            <a:rect l="l" t="t" r="r" b="b"/>
            <a:pathLst>
              <a:path w="26" h="6">
                <a:moveTo>
                  <a:pt x="0" y="3"/>
                </a:moveTo>
                <a:lnTo>
                  <a:pt x="26" y="3"/>
                </a:lnTo>
              </a:path>
            </a:pathLst>
          </a:custGeom>
          <a:noFill/>
          <a:ln w="25400">
            <a:solidFill>
              <a:srgbClr val="11B0AB"/>
            </a:solidFill>
            <a:tailEnd type="arrow"/>
          </a:ln>
        </p:spPr>
      </p:sp>
      <p:sp>
        <p:nvSpPr>
          <p:cNvPr id="15" name="node-duckdb"/>
          <p:cNvSpPr/>
          <p:nvPr/>
        </p:nvSpPr>
        <p:spPr>
          <a:xfrm>
            <a:off x="5664200" y="2667000"/>
            <a:ext cx="2235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2"/>
            </a:solidFill>
          </a:ln>
        </p:spPr>
      </p:sp>
      <p:sp>
        <p:nvSpPr>
          <p:cNvPr id="16" name="node-duckdb-accent"/>
          <p:cNvSpPr/>
          <p:nvPr/>
        </p:nvSpPr>
        <p:spPr>
          <a:xfrm>
            <a:off x="5664200" y="2667000"/>
            <a:ext cx="22352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17" name="node-duckdb-title"/>
          <p:cNvSpPr txBox="1"/>
          <p:nvPr/>
        </p:nvSpPr>
        <p:spPr>
          <a:xfrm>
            <a:off x="5791200" y="2819400"/>
            <a:ext cx="198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50" noProof="1" b="1">
                <a:solidFill>
                  <a:srgbClr val="101E3C"/>
                </a:solidFill>
                <a:latin typeface="MiSans"/>
                <a:ea typeface="MiSans"/>
              </a:rPr>
              <a:t>DUCKDB COLUMNAR WAREHOUSE</a:t>
            </a:r>
            <a:endParaRPr lang="en-US" sz="1050" noProof="1"/>
          </a:p>
        </p:txBody>
      </p:sp>
      <p:sp>
        <p:nvSpPr>
          <p:cNvPr id="18" name="node-duckdb-mono"/>
          <p:cNvSpPr txBox="1"/>
          <p:nvPr/>
        </p:nvSpPr>
        <p:spPr>
          <a:xfrm>
            <a:off x="5791200" y="3251200"/>
            <a:ext cx="1981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0C7C78"/>
                </a:solidFill>
                <a:latin typeface="JetBrains Mono"/>
                <a:ea typeface="JetBrains Mono"/>
              </a:rPr>
              <a:t>climateshield.duckdb</a:t>
            </a:r>
            <a:endParaRPr lang="en-US" sz="900" noProof="1"/>
          </a:p>
        </p:txBody>
      </p:sp>
      <p:sp>
        <p:nvSpPr>
          <p:cNvPr id="19" name="node-duckdb-sub"/>
          <p:cNvSpPr txBox="1"/>
          <p:nvPr/>
        </p:nvSpPr>
        <p:spPr>
          <a:xfrm>
            <a:off x="5791200" y="3505200"/>
            <a:ext cx="1981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850" noProof="1">
                <a:solidFill>
                  <a:srgbClr val="5B6B7E"/>
                </a:solidFill>
                <a:latin typeface="MiSans"/>
                <a:ea typeface="MiSans"/>
              </a:rPr>
              <a:t>embedded, zero-latency spatial queries and analytical aggregation</a:t>
            </a:r>
            <a:endParaRPr lang="en-US" sz="850" noProof="1"/>
          </a:p>
        </p:txBody>
      </p:sp>
      <p:sp>
        <p:nvSpPr>
          <p:cNvPr id="20" name="arrow-3"/>
          <p:cNvSpPr/>
          <p:nvPr>
            <p:extLst>
              <p:ext uri="{F5677B7D-0D2A-4D9B-9A5C-6D8D7D0E5A5D}">
                <pptd:line encoding="base64url">eyJ2aWV3Qm94IjpbMjYsNl0sInBvaW50cyI6IjAsMyAyNiwzIiwiY3VydmUiOiJzaGFycCJ9</pptd:line>
              </p:ext>
            </p:extLst>
          </p:nvPr>
        </p:nvSpPr>
        <p:spPr>
          <a:xfrm>
            <a:off x="7950200" y="3429000"/>
            <a:ext cx="330200" cy="76200"/>
          </a:xfrm>
          <a:custGeom>
            <a:avLst/>
            <a:gdLst/>
            <a:ahLst/>
            <a:cxnLst/>
            <a:rect l="l" t="t" r="r" b="b"/>
            <a:pathLst>
              <a:path w="26" h="6">
                <a:moveTo>
                  <a:pt x="0" y="3"/>
                </a:moveTo>
                <a:lnTo>
                  <a:pt x="26" y="3"/>
                </a:lnTo>
              </a:path>
            </a:pathLst>
          </a:custGeom>
          <a:noFill/>
          <a:ln w="25400">
            <a:solidFill>
              <a:srgbClr val="11B0AB"/>
            </a:solidFill>
            <a:tailEnd type="arrow"/>
          </a:ln>
        </p:spPr>
      </p:sp>
      <p:sp>
        <p:nvSpPr>
          <p:cNvPr id="21" name="node-api"/>
          <p:cNvSpPr/>
          <p:nvPr/>
        </p:nvSpPr>
        <p:spPr>
          <a:xfrm>
            <a:off x="8331200" y="2819400"/>
            <a:ext cx="13462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2"/>
            </a:solidFill>
          </a:ln>
        </p:spPr>
      </p:sp>
      <p:sp>
        <p:nvSpPr>
          <p:cNvPr id="22" name="node-api-accent"/>
          <p:cNvSpPr/>
          <p:nvPr/>
        </p:nvSpPr>
        <p:spPr>
          <a:xfrm>
            <a:off x="8331200" y="2819400"/>
            <a:ext cx="13462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23" name="node-api-title"/>
          <p:cNvSpPr txBox="1"/>
          <p:nvPr/>
        </p:nvSpPr>
        <p:spPr>
          <a:xfrm>
            <a:off x="8432800" y="2971800"/>
            <a:ext cx="1143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 b="1">
                <a:solidFill>
                  <a:srgbClr val="101E3C"/>
                </a:solidFill>
                <a:latin typeface="MiSans"/>
                <a:ea typeface="MiSans"/>
              </a:rPr>
              <a:t>FASTAPI BACKEND</a:t>
            </a:r>
            <a:endParaRPr lang="en-US" sz="1000" noProof="1"/>
          </a:p>
        </p:txBody>
      </p:sp>
      <p:sp>
        <p:nvSpPr>
          <p:cNvPr id="24" name="node-api-sub"/>
          <p:cNvSpPr txBox="1"/>
          <p:nvPr/>
        </p:nvSpPr>
        <p:spPr>
          <a:xfrm>
            <a:off x="8432800" y="3429000"/>
            <a:ext cx="1143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850" noProof="1">
                <a:solidFill>
                  <a:srgbClr val="5B6B7E"/>
                </a:solidFill>
                <a:latin typeface="MiSans"/>
                <a:ea typeface="MiSans"/>
              </a:rPr>
              <a:t>typed API layer for live queries</a:t>
            </a:r>
            <a:endParaRPr lang="en-US" sz="850" noProof="1"/>
          </a:p>
        </p:txBody>
      </p:sp>
      <p:sp>
        <p:nvSpPr>
          <p:cNvPr id="25" name="arrow-4"/>
          <p:cNvSpPr/>
          <p:nvPr>
            <p:extLst>
              <p:ext uri="{F5677B7D-0D2A-4D9B-9A5C-6D8D7D0E5A5D}">
                <pptd:line encoding="base64url">eyJ2aWV3Qm94IjpbMjYsNl0sInBvaW50cyI6IjAsMyAyNiwzIiwiY3VydmUiOiJzaGFycCJ9</pptd:line>
              </p:ext>
            </p:extLst>
          </p:nvPr>
        </p:nvSpPr>
        <p:spPr>
          <a:xfrm>
            <a:off x="9728200" y="3429000"/>
            <a:ext cx="330200" cy="76200"/>
          </a:xfrm>
          <a:custGeom>
            <a:avLst/>
            <a:gdLst/>
            <a:ahLst/>
            <a:cxnLst/>
            <a:rect l="l" t="t" r="r" b="b"/>
            <a:pathLst>
              <a:path w="26" h="6">
                <a:moveTo>
                  <a:pt x="0" y="3"/>
                </a:moveTo>
                <a:lnTo>
                  <a:pt x="26" y="3"/>
                </a:lnTo>
              </a:path>
            </a:pathLst>
          </a:custGeom>
          <a:noFill/>
          <a:ln w="25400">
            <a:solidFill>
              <a:srgbClr val="11B0AB"/>
            </a:solidFill>
            <a:tailEnd type="arrow"/>
          </a:ln>
        </p:spPr>
      </p:sp>
      <p:sp>
        <p:nvSpPr>
          <p:cNvPr id="26" name="node-dash"/>
          <p:cNvSpPr/>
          <p:nvPr/>
        </p:nvSpPr>
        <p:spPr>
          <a:xfrm>
            <a:off x="10109200" y="2819400"/>
            <a:ext cx="14732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2"/>
            </a:solidFill>
          </a:ln>
        </p:spPr>
      </p:sp>
      <p:sp>
        <p:nvSpPr>
          <p:cNvPr id="27" name="node-dash-accent"/>
          <p:cNvSpPr/>
          <p:nvPr/>
        </p:nvSpPr>
        <p:spPr>
          <a:xfrm>
            <a:off x="10109200" y="2819400"/>
            <a:ext cx="14732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28" name="node-dash-title"/>
          <p:cNvSpPr txBox="1"/>
          <p:nvPr/>
        </p:nvSpPr>
        <p:spPr>
          <a:xfrm>
            <a:off x="10210800" y="29718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 b="1">
                <a:solidFill>
                  <a:srgbClr val="101E3C"/>
                </a:solidFill>
                <a:latin typeface="MiSans"/>
                <a:ea typeface="MiSans"/>
              </a:rPr>
              <a:t>3D WEBGL DASHBOARD</a:t>
            </a:r>
            <a:endParaRPr lang="en-US" sz="1000" noProof="1"/>
          </a:p>
        </p:txBody>
      </p:sp>
      <p:sp>
        <p:nvSpPr>
          <p:cNvPr id="29" name="node-dash-sub"/>
          <p:cNvSpPr txBox="1"/>
          <p:nvPr/>
        </p:nvSpPr>
        <p:spPr>
          <a:xfrm>
            <a:off x="10210800" y="3429000"/>
            <a:ext cx="127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850" noProof="1">
                <a:solidFill>
                  <a:srgbClr val="5B6B7E"/>
                </a:solidFill>
                <a:latin typeface="MiSans"/>
                <a:ea typeface="MiSans"/>
              </a:rPr>
              <a:t>MapLibre GL operations client</a:t>
            </a:r>
            <a:endParaRPr lang="en-US" sz="850" noProof="1"/>
          </a:p>
        </p:txBody>
      </p:sp>
      <p:sp>
        <p:nvSpPr>
          <p:cNvPr id="30" name="gate-label"/>
          <p:cNvSpPr txBox="1"/>
          <p:nvPr/>
        </p:nvSpPr>
        <p:spPr>
          <a:xfrm>
            <a:off x="609600" y="5638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11B0AB"/>
                </a:solidFill>
                <a:latin typeface="MiSans"/>
                <a:ea typeface="MiSans"/>
              </a:rPr>
              <a:t>STRICT DATA QUALITY GATE</a:t>
            </a:r>
            <a:endParaRPr lang="en-US" sz="1050" noProof="1"/>
          </a:p>
        </p:txBody>
      </p:sp>
      <p:sp>
        <p:nvSpPr>
          <p:cNvPr id="31" name="stat1-num"/>
          <p:cNvSpPr txBox="1"/>
          <p:nvPr/>
        </p:nvSpPr>
        <p:spPr>
          <a:xfrm>
            <a:off x="609600" y="5918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101E3C"/>
                </a:solidFill>
                <a:latin typeface="Archivo Black"/>
                <a:ea typeface="Archivo Black"/>
              </a:rPr>
              <a:t>160</a:t>
            </a:r>
            <a:endParaRPr lang="en-US" sz="2400" noProof="1"/>
          </a:p>
        </p:txBody>
      </p:sp>
      <p:sp>
        <p:nvSpPr>
          <p:cNvPr id="32" name="stat1-label"/>
          <p:cNvSpPr txBox="1"/>
          <p:nvPr/>
        </p:nvSpPr>
        <p:spPr>
          <a:xfrm>
            <a:off x="1549400" y="5969000"/>
            <a:ext cx="2489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district data-quality audit rules with automated anomaly tracking</a:t>
            </a:r>
            <a:endParaRPr lang="en-US" sz="950" noProof="1"/>
          </a:p>
        </p:txBody>
      </p:sp>
      <p:sp>
        <p:nvSpPr>
          <p:cNvPr id="33" name="stat-sep-1"/>
          <p:cNvSpPr/>
          <p:nvPr/>
        </p:nvSpPr>
        <p:spPr>
          <a:xfrm>
            <a:off x="4191000" y="5918200"/>
            <a:ext cx="12700" cy="3810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34" name="stat2-num"/>
          <p:cNvSpPr txBox="1"/>
          <p:nvPr/>
        </p:nvSpPr>
        <p:spPr>
          <a:xfrm>
            <a:off x="4419600" y="59182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101E3C"/>
                </a:solidFill>
                <a:latin typeface="Archivo Black"/>
                <a:ea typeface="Archivo Black"/>
              </a:rPr>
              <a:t>0</a:t>
            </a:r>
            <a:endParaRPr lang="en-US" sz="2400" noProof="1"/>
          </a:p>
        </p:txBody>
      </p:sp>
      <p:sp>
        <p:nvSpPr>
          <p:cNvPr id="35" name="stat2-label"/>
          <p:cNvSpPr txBox="1"/>
          <p:nvPr/>
        </p:nvSpPr>
        <p:spPr>
          <a:xfrm>
            <a:off x="5359400" y="5969000"/>
            <a:ext cx="2489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synthetic or hard-coded values anywhere in the pipeline</a:t>
            </a:r>
            <a:endParaRPr lang="en-US" sz="950" noProof="1"/>
          </a:p>
        </p:txBody>
      </p:sp>
      <p:sp>
        <p:nvSpPr>
          <p:cNvPr id="36" name="stat-sep-2"/>
          <p:cNvSpPr/>
          <p:nvPr/>
        </p:nvSpPr>
        <p:spPr>
          <a:xfrm>
            <a:off x="8001000" y="5918200"/>
            <a:ext cx="12700" cy="3810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37" name="stat3-num"/>
          <p:cNvSpPr txBox="1"/>
          <p:nvPr/>
        </p:nvSpPr>
        <p:spPr>
          <a:xfrm>
            <a:off x="8229600" y="59182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101E3C"/>
                </a:solidFill>
                <a:latin typeface="Archivo Black"/>
                <a:ea typeface="Archivo Black"/>
              </a:rPr>
              <a:t>60 min</a:t>
            </a:r>
            <a:endParaRPr lang="en-US" sz="2400" noProof="1"/>
          </a:p>
        </p:txBody>
      </p:sp>
      <p:sp>
        <p:nvSpPr>
          <p:cNvPr id="38" name="stat3-label"/>
          <p:cNvSpPr txBox="1"/>
          <p:nvPr/>
        </p:nvSpPr>
        <p:spPr>
          <a:xfrm>
            <a:off x="9601200" y="5969000"/>
            <a:ext cx="198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automated ingestion refresh cycle, run evidence logged</a:t>
            </a:r>
            <a:endParaRPr lang="en-US" sz="950" noProof="1"/>
          </a:p>
        </p:txBody>
      </p:sp>
      <p:sp>
        <p:nvSpPr>
          <p:cNvPr id="39" name="footer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40" name="footer-left"/>
          <p:cNvSpPr txBox="1"/>
          <p:nvPr/>
        </p:nvSpPr>
        <p:spPr>
          <a:xfrm>
            <a:off x="609600" y="66167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50" kern="0">
                <a:solidFill>
                  <a:srgbClr val="8494A3"/>
                </a:solidFill>
                <a:latin typeface="MiSans"/>
                <a:ea typeface="MiSans"/>
              </a:rPr>
              <a:t>CLIMATESHIELD 360 — HACKINSIGHT 2026 · CLIMATE TRACK</a:t>
            </a:r>
            <a:endParaRPr lang="en-US" sz="800" noProof="1"/>
          </a:p>
        </p:txBody>
      </p:sp>
      <p:sp>
        <p:nvSpPr>
          <p:cNvPr id="41" name="footer-page"/>
          <p:cNvSpPr txBox="1"/>
          <p:nvPr/>
        </p:nvSpPr>
        <p:spPr>
          <a:xfrm>
            <a:off x="10160000" y="6616700"/>
            <a:ext cx="1422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03 / 10</a:t>
            </a:r>
            <a:endParaRPr lang="en-US" sz="8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11B0AB"/>
                </a:solidFill>
                <a:latin typeface="MiSans"/>
                <a:ea typeface="MiSans"/>
              </a:rPr>
              <a:t>03 · MODEL EVIDENCE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52238"/>
                </a:solidFill>
                <a:latin typeface="Archivo Black"/>
                <a:ea typeface="Archivo Black"/>
              </a:rPr>
              <a:t>35.1% lower rainfall error than the declared baseline</a:t>
            </a:r>
            <a:endParaRPr lang="en-US" sz="2500" noProof="1"/>
          </a:p>
        </p:txBody>
      </p:sp>
      <p:sp>
        <p:nvSpPr>
          <p:cNvPr id="4" name="tick"/>
          <p:cNvSpPr/>
          <p:nvPr/>
        </p:nvSpPr>
        <p:spPr>
          <a:xfrm>
            <a:off x="609600" y="1219200"/>
            <a:ext cx="4572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5" name="big-stat"/>
          <p:cNvSpPr txBox="1"/>
          <p:nvPr/>
        </p:nvSpPr>
        <p:spPr>
          <a:xfrm>
            <a:off x="609600" y="1524000"/>
            <a:ext cx="406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000" noProof="1">
                <a:solidFill>
                  <a:srgbClr val="11B0AB"/>
                </a:solidFill>
                <a:latin typeface="Archivo Black"/>
                <a:ea typeface="Archivo Black"/>
              </a:rPr>
              <a:t>35.1%</a:t>
            </a:r>
            <a:endParaRPr lang="en-US" sz="5000" noProof="1"/>
          </a:p>
        </p:txBody>
      </p:sp>
      <p:sp>
        <p:nvSpPr>
          <p:cNvPr id="6" name="big-stat-label"/>
          <p:cNvSpPr txBox="1"/>
          <p:nvPr/>
        </p:nvSpPr>
        <p:spPr>
          <a:xfrm>
            <a:off x="609600" y="23876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5B6B7E"/>
                </a:solidFill>
                <a:latin typeface="MiSans"/>
                <a:ea typeface="MiSans"/>
              </a:rPr>
              <a:t>lower rainfall MAE vs the 24-hour persistence baseline </a:t>
            </a:r>
            <a:r>
              <a:rPr lang="en-US" sz="950" noProof="1">
                <a:solidFill>
                  <a:srgbClr val="0C7C78"/>
                </a:solidFill>
                <a:latin typeface="JetBrains Mono"/>
                <a:ea typeface="JetBrains Mono"/>
              </a:rPr>
              <a:t>y_hat(t) = y(t-24h)</a:t>
            </a:r>
            <a:endParaRPr lang="en-US" sz="1050" noProof="1"/>
          </a:p>
        </p:txBody>
      </p:sp>
      <p:sp>
        <p:nvSpPr>
          <p:cNvPr id="7" name="rule-a"/>
          <p:cNvSpPr/>
          <p:nvPr/>
        </p:nvSpPr>
        <p:spPr>
          <a:xfrm>
            <a:off x="609600" y="3048000"/>
            <a:ext cx="40640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8" name="secondary-stats"/>
          <p:cNvSpPr txBox="1"/>
          <p:nvPr/>
        </p:nvSpPr>
        <p:spPr>
          <a:xfrm>
            <a:off x="609600" y="3225800"/>
            <a:ext cx="4064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101E3C"/>
                </a:solidFill>
                <a:latin typeface="MiSans"/>
                <a:ea typeface="MiSans"/>
              </a:rPr>
              <a:t>0.3003 R2</a:t>
            </a:r>
            <a:r>
              <a:rPr lang="en-US" sz="1000" noProof="1">
                <a:solidFill>
                  <a:srgbClr val="5B6B7E"/>
                </a:solidFill>
                <a:latin typeface="MiSans"/>
                <a:ea typeface="MiSans"/>
              </a:rPr>
              <a:t> — predictive signal on untouched 2025–26 data</a:t>
            </a:r>
            <a:endParaRPr lang="en-US" sz="100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noProof="1" b="1">
                <a:solidFill>
                  <a:srgbClr val="101E3C"/>
                </a:solidFill>
                <a:latin typeface="MiSans"/>
                <a:ea typeface="MiSans"/>
              </a:rPr>
              <a:t>97.42%</a:t>
            </a:r>
            <a:r>
              <a:rPr lang="en-US" sz="1000" noProof="1">
                <a:solidFill>
                  <a:srgbClr val="5B6B7E"/>
                </a:solidFill>
                <a:latin typeface="MiSans"/>
                <a:ea typeface="MiSans"/>
              </a:rPr>
              <a:t> of points inside the 10th–90th percentile band</a:t>
            </a:r>
            <a:endParaRPr lang="en-US" sz="100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400" noProof="1" b="1">
                <a:solidFill>
                  <a:srgbClr val="101E3C"/>
                </a:solidFill>
                <a:latin typeface="MiSans"/>
                <a:ea typeface="MiSans"/>
              </a:rPr>
              <a:t>-38.0%</a:t>
            </a:r>
            <a:r>
              <a:rPr lang="en-US" sz="1000" noProof="1">
                <a:solidFill>
                  <a:srgbClr val="5B6B7E"/>
                </a:solidFill>
                <a:latin typeface="MiSans"/>
                <a:ea typeface="MiSans"/>
              </a:rPr>
              <a:t> RMSE — 0.3979 vs 0.6417 mm baseline</a:t>
            </a:r>
            <a:endParaRPr lang="en-US" sz="1000" noProof="1"/>
          </a:p>
        </p:txBody>
      </p:sp>
      <p:sp>
        <p:nvSpPr>
          <p:cNvPr id="9" name="rule-b"/>
          <p:cNvSpPr/>
          <p:nvPr/>
        </p:nvSpPr>
        <p:spPr>
          <a:xfrm>
            <a:off x="609600" y="4724400"/>
            <a:ext cx="40640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10" name="honesty-bar"/>
          <p:cNvSpPr/>
          <p:nvPr/>
        </p:nvSpPr>
        <p:spPr>
          <a:xfrm>
            <a:off x="609600" y="4902200"/>
            <a:ext cx="38100" cy="73660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" name="honesty-text"/>
          <p:cNvSpPr txBox="1"/>
          <p:nvPr/>
        </p:nvSpPr>
        <p:spPr>
          <a:xfrm>
            <a:off x="787400" y="4902200"/>
            <a:ext cx="3886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 b="1">
                <a:solidFill>
                  <a:srgbClr val="5B6B7E"/>
                </a:solidFill>
                <a:latin typeface="MiSans"/>
                <a:ea typeface="MiSans"/>
              </a:rPr>
              <a:t>Declared limitation</a:t>
            </a: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 — inundation Brier score 0.0351 vs 0.0153 is published openly in the model report as a known gap for improvement.</a:t>
            </a:r>
            <a:endParaRPr lang="en-US" sz="950" noProof="1"/>
          </a:p>
        </p:txBody>
      </p:sp>
      <p:graphicFrame>
        <p:nvGraphicFramePr>
          <p:cNvPr id="12" name="metrics-chart"/>
          <p:cNvGraphicFramePr/>
          <p:nvPr/>
        </p:nvGraphicFramePr>
        <p:xfrm>
          <a:off x="5080000" y="1498600"/>
          <a:ext cx="6502400" cy="30988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3" name="validation-label"/>
          <p:cNvSpPr txBox="1"/>
          <p:nvPr/>
        </p:nvSpPr>
        <p:spPr>
          <a:xfrm>
            <a:off x="5080000" y="4826000"/>
            <a:ext cx="650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11B0AB"/>
                </a:solidFill>
                <a:latin typeface="MiSans"/>
                <a:ea typeface="MiSans"/>
              </a:rPr>
              <a:t>HONEST OUT-OF-TIME VALIDATION</a:t>
            </a:r>
            <a:endParaRPr lang="en-US" sz="1050" noProof="1"/>
          </a:p>
        </p:txBody>
      </p:sp>
      <p:sp>
        <p:nvSpPr>
          <p:cNvPr id="14" name="validation-text"/>
          <p:cNvSpPr txBox="1"/>
          <p:nvPr/>
        </p:nvSpPr>
        <p:spPr>
          <a:xfrm>
            <a:off x="5080000" y="5080000"/>
            <a:ext cx="6502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 b="1">
                <a:solidFill>
                  <a:srgbClr val="152238"/>
                </a:solidFill>
                <a:latin typeface="MiSans"/>
                <a:ea typeface="MiSans"/>
              </a:rPr>
              <a:t>Train 2021–2024</a:t>
            </a:r>
            <a:r>
              <a:rPr lang="en-US" sz="1000" noProof="1">
                <a:solidFill>
                  <a:srgbClr val="152238"/>
                </a:solidFill>
                <a:latin typeface="MiSans"/>
                <a:ea typeface="MiSans"/>
              </a:rPr>
              <a:t> — </a:t>
            </a:r>
            <a:r>
              <a:rPr lang="en-US" sz="950" noProof="1">
                <a:solidFill>
                  <a:srgbClr val="152238"/>
                </a:solidFill>
                <a:latin typeface="JetBrains Mono"/>
                <a:ea typeface="JetBrains Mono"/>
              </a:rPr>
              <a:t>403,188</a:t>
            </a:r>
            <a:r>
              <a:rPr lang="en-US" sz="1000" noProof="1">
                <a:solidFill>
                  <a:srgbClr val="152238"/>
                </a:solidFill>
                <a:latin typeface="MiSans"/>
                <a:ea typeface="MiSans"/>
              </a:rPr>
              <a:t> hourly observations, including the historic 2022 super floods</a:t>
            </a:r>
            <a:endParaRPr lang="en-US" sz="10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000" noProof="1" b="1">
                <a:solidFill>
                  <a:srgbClr val="152238"/>
                </a:solidFill>
                <a:latin typeface="MiSans"/>
                <a:ea typeface="MiSans"/>
              </a:rPr>
              <a:t>Test 2025–2026</a:t>
            </a:r>
            <a:r>
              <a:rPr lang="en-US" sz="1000" noProof="1">
                <a:solidFill>
                  <a:srgbClr val="152238"/>
                </a:solidFill>
                <a:latin typeface="MiSans"/>
                <a:ea typeface="MiSans"/>
              </a:rPr>
              <a:t> — </a:t>
            </a:r>
            <a:r>
              <a:rPr lang="en-US" sz="950" noProof="1">
                <a:solidFill>
                  <a:srgbClr val="152238"/>
                </a:solidFill>
                <a:latin typeface="JetBrains Mono"/>
                <a:ea typeface="JetBrains Mono"/>
              </a:rPr>
              <a:t>189,168</a:t>
            </a:r>
            <a:r>
              <a:rPr lang="en-US" sz="1000" noProof="1">
                <a:solidFill>
                  <a:srgbClr val="152238"/>
                </a:solidFill>
                <a:latin typeface="MiSans"/>
                <a:ea typeface="MiSans"/>
              </a:rPr>
              <a:t> future observations, never seen in training</a:t>
            </a:r>
            <a:endParaRPr lang="en-US" sz="100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152238"/>
                </a:solidFill>
                <a:latin typeface="MiSans"/>
                <a:ea typeface="MiSans"/>
              </a:rPr>
              <a:t>Quantile regression outputs 10th / 50th / 90th percentiles — probabilistic bounds for incident commanders, not a single black-box guess.</a:t>
            </a:r>
            <a:endParaRPr lang="en-US" sz="1000" noProof="1"/>
          </a:p>
        </p:txBody>
      </p:sp>
      <p:sp>
        <p:nvSpPr>
          <p:cNvPr id="15" name="footer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609600" y="66167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50" kern="0">
                <a:solidFill>
                  <a:srgbClr val="8494A3"/>
                </a:solidFill>
                <a:latin typeface="MiSans"/>
                <a:ea typeface="MiSans"/>
              </a:rPr>
              <a:t>CLIMATESHIELD 360 — HACKINSIGHT 2026 · CLIMATE TRACK</a:t>
            </a:r>
            <a:endParaRPr lang="en-US" sz="8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160000" y="6616700"/>
            <a:ext cx="1422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04 / 10</a:t>
            </a:r>
            <a:endParaRPr lang="en-US" sz="8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35CFC9"/>
                </a:solidFill>
                <a:latin typeface="MiSans"/>
                <a:ea typeface="MiSans"/>
              </a:rPr>
              <a:t>04 · SPATIAL RISK INTELLIGENCE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FFFFFF"/>
                </a:solidFill>
                <a:latin typeface="Archivo Black"/>
                <a:ea typeface="Archivo Black"/>
              </a:rPr>
              <a:t>Every district of Karachi, scored and extruded in 3D</a:t>
            </a:r>
            <a:endParaRPr lang="en-US" sz="2500" noProof="1"/>
          </a:p>
        </p:txBody>
      </p:sp>
      <p:sp>
        <p:nvSpPr>
          <p:cNvPr id="4" name="tick"/>
          <p:cNvSpPr/>
          <p:nvPr/>
        </p:nvSpPr>
        <p:spPr>
          <a:xfrm>
            <a:off x="609600" y="1219200"/>
            <a:ext cx="4572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5" name="block1-title"/>
          <p:cNvSpPr txBox="1"/>
          <p:nvPr/>
        </p:nvSpPr>
        <p:spPr>
          <a:xfrm>
            <a:off x="609600" y="14986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7 districts, evaluated independently</a:t>
            </a:r>
            <a:endParaRPr lang="en-US" sz="1300" noProof="1"/>
          </a:p>
        </p:txBody>
      </p:sp>
      <p:sp>
        <p:nvSpPr>
          <p:cNvPr id="6" name="block1-body"/>
          <p:cNvSpPr txBox="1"/>
          <p:nvPr/>
        </p:nvSpPr>
        <p:spPr>
          <a:xfrm>
            <a:off x="609600" y="17780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8EA0B8"/>
                </a:solidFill>
                <a:latin typeface="MiSans"/>
                <a:ea typeface="MiSans"/>
              </a:rPr>
              <a:t>Central · East · Keamari · Korangi · Malir · South · West — each scored in real time, not as one citywide average.</a:t>
            </a:r>
            <a:endParaRPr lang="en-US" sz="1000" noProof="1"/>
          </a:p>
        </p:txBody>
      </p:sp>
      <p:sp>
        <p:nvSpPr>
          <p:cNvPr id="7" name="legend-label"/>
          <p:cNvSpPr txBox="1"/>
          <p:nvPr/>
        </p:nvSpPr>
        <p:spPr>
          <a:xfrm>
            <a:off x="609600" y="2463800"/>
            <a:ext cx="4191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 b="1" spc="200" kern="0">
                <a:solidFill>
                  <a:srgbClr val="35CFC9"/>
                </a:solidFill>
                <a:latin typeface="MiSans"/>
                <a:ea typeface="MiSans"/>
              </a:rPr>
              <a:t>LIVE HAZARD CLASSIFICATION</a:t>
            </a:r>
            <a:endParaRPr lang="en-US" sz="900" noProof="1"/>
          </a:p>
        </p:txBody>
      </p:sp>
      <p:sp>
        <p:nvSpPr>
          <p:cNvPr id="8" name="legend-sq-1"/>
          <p:cNvSpPr/>
          <p:nvPr/>
        </p:nvSpPr>
        <p:spPr>
          <a:xfrm>
            <a:off x="609600" y="2768600"/>
            <a:ext cx="152400" cy="152400"/>
          </a:xfrm>
          <a:prstGeom prst="rect">
            <a:avLst/>
          </a:prstGeom>
          <a:solidFill>
            <a:srgbClr val="2E9B52"/>
          </a:solidFill>
          <a:ln>
            <a:noFill/>
          </a:ln>
        </p:spPr>
      </p:sp>
      <p:sp>
        <p:nvSpPr>
          <p:cNvPr id="9" name="legend-tx-1"/>
          <p:cNvSpPr txBox="1"/>
          <p:nvPr/>
        </p:nvSpPr>
        <p:spPr>
          <a:xfrm>
            <a:off x="889000" y="2743200"/>
            <a:ext cx="3911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MiSans"/>
                <a:ea typeface="MiSans"/>
              </a:rPr>
              <a:t>Low</a:t>
            </a:r>
            <a:r>
              <a:rPr lang="en-US" sz="1050" noProof="1">
                <a:solidFill>
                  <a:srgbClr val="8EA0B8"/>
                </a:solidFill>
                <a:latin typeface="MiSans"/>
                <a:ea typeface="MiSans"/>
              </a:rPr>
              <a:t> — routine monitoring</a:t>
            </a:r>
            <a:endParaRPr lang="en-US" sz="1050" noProof="1"/>
          </a:p>
        </p:txBody>
      </p:sp>
      <p:sp>
        <p:nvSpPr>
          <p:cNvPr id="10" name="legend-sq-2"/>
          <p:cNvSpPr/>
          <p:nvPr/>
        </p:nvSpPr>
        <p:spPr>
          <a:xfrm>
            <a:off x="609600" y="3048000"/>
            <a:ext cx="152400" cy="15240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" name="legend-tx-2"/>
          <p:cNvSpPr txBox="1"/>
          <p:nvPr/>
        </p:nvSpPr>
        <p:spPr>
          <a:xfrm>
            <a:off x="889000" y="3022600"/>
            <a:ext cx="3911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MiSans"/>
                <a:ea typeface="MiSans"/>
              </a:rPr>
              <a:t>Moderate</a:t>
            </a:r>
            <a:r>
              <a:rPr lang="en-US" sz="1050" noProof="1">
                <a:solidFill>
                  <a:srgbClr val="8EA0B8"/>
                </a:solidFill>
                <a:latin typeface="MiSans"/>
                <a:ea typeface="MiSans"/>
              </a:rPr>
              <a:t> — watch and pre-position</a:t>
            </a:r>
            <a:endParaRPr lang="en-US" sz="1050" noProof="1"/>
          </a:p>
        </p:txBody>
      </p:sp>
      <p:sp>
        <p:nvSpPr>
          <p:cNvPr id="12" name="legend-sq-3"/>
          <p:cNvSpPr/>
          <p:nvPr/>
        </p:nvSpPr>
        <p:spPr>
          <a:xfrm>
            <a:off x="609600" y="3327400"/>
            <a:ext cx="152400" cy="152400"/>
          </a:xfrm>
          <a:prstGeom prst="rect">
            <a:avLst/>
          </a:prstGeom>
          <a:solidFill>
            <a:srgbClr val="E8590C"/>
          </a:solidFill>
          <a:ln>
            <a:noFill/>
          </a:ln>
        </p:spPr>
      </p:sp>
      <p:sp>
        <p:nvSpPr>
          <p:cNvPr id="13" name="legend-tx-3"/>
          <p:cNvSpPr txBox="1"/>
          <p:nvPr/>
        </p:nvSpPr>
        <p:spPr>
          <a:xfrm>
            <a:off x="889000" y="3302000"/>
            <a:ext cx="3911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MiSans"/>
                <a:ea typeface="MiSans"/>
              </a:rPr>
              <a:t>High</a:t>
            </a:r>
            <a:r>
              <a:rPr lang="en-US" sz="1050" noProof="1">
                <a:solidFill>
                  <a:srgbClr val="8EA0B8"/>
                </a:solidFill>
                <a:latin typeface="MiSans"/>
                <a:ea typeface="MiSans"/>
              </a:rPr>
              <a:t> — deploy resources</a:t>
            </a:r>
            <a:endParaRPr lang="en-US" sz="1050" noProof="1"/>
          </a:p>
        </p:txBody>
      </p:sp>
      <p:sp>
        <p:nvSpPr>
          <p:cNvPr id="14" name="legend-sq-4"/>
          <p:cNvSpPr/>
          <p:nvPr/>
        </p:nvSpPr>
        <p:spPr>
          <a:xfrm>
            <a:off x="609600" y="3606800"/>
            <a:ext cx="152400" cy="152400"/>
          </a:xfrm>
          <a:prstGeom prst="rect">
            <a:avLst/>
          </a:prstGeom>
          <a:solidFill>
            <a:srgbClr val="D92D20"/>
          </a:solidFill>
          <a:ln>
            <a:noFill/>
          </a:ln>
        </p:spPr>
      </p:sp>
      <p:sp>
        <p:nvSpPr>
          <p:cNvPr id="15" name="legend-tx-4"/>
          <p:cNvSpPr txBox="1"/>
          <p:nvPr/>
        </p:nvSpPr>
        <p:spPr>
          <a:xfrm>
            <a:off x="889000" y="3581400"/>
            <a:ext cx="3911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MiSans"/>
                <a:ea typeface="MiSans"/>
              </a:rPr>
              <a:t>Severe</a:t>
            </a:r>
            <a:r>
              <a:rPr lang="en-US" sz="1050" noProof="1">
                <a:solidFill>
                  <a:srgbClr val="8EA0B8"/>
                </a:solidFill>
                <a:latin typeface="MiSans"/>
                <a:ea typeface="MiSans"/>
              </a:rPr>
              <a:t> — execute emergency protocol</a:t>
            </a:r>
            <a:endParaRPr lang="en-US" sz="1050" noProof="1"/>
          </a:p>
        </p:txBody>
      </p:sp>
      <p:sp>
        <p:nvSpPr>
          <p:cNvPr id="16" name="block3-title"/>
          <p:cNvSpPr txBox="1"/>
          <p:nvPr/>
        </p:nvSpPr>
        <p:spPr>
          <a:xfrm>
            <a:off x="609600" y="40640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3D extrusion heights with meaning</a:t>
            </a:r>
            <a:endParaRPr lang="en-US" sz="1300" noProof="1"/>
          </a:p>
        </p:txBody>
      </p:sp>
      <p:sp>
        <p:nvSpPr>
          <p:cNvPr id="17" name="block3-body"/>
          <p:cNvSpPr txBox="1"/>
          <p:nvPr/>
        </p:nvSpPr>
        <p:spPr>
          <a:xfrm>
            <a:off x="609600" y="43434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8EA0B8"/>
                </a:solidFill>
                <a:latin typeface="MiSans"/>
                <a:ea typeface="MiSans"/>
              </a:rPr>
              <a:t>Building volumes encode exposed population (2M+ residents per district), hazard probability, or composite vulnerability score.</a:t>
            </a:r>
            <a:endParaRPr lang="en-US" sz="1000" noProof="1"/>
          </a:p>
        </p:txBody>
      </p:sp>
      <p:sp>
        <p:nvSpPr>
          <p:cNvPr id="18" name="block4-title"/>
          <p:cNvSpPr txBox="1"/>
          <p:nvPr/>
        </p:nvSpPr>
        <p:spPr>
          <a:xfrm>
            <a:off x="609600" y="505460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Interactive facility pins</a:t>
            </a:r>
            <a:endParaRPr lang="en-US" sz="1300" noProof="1"/>
          </a:p>
        </p:txBody>
      </p:sp>
      <p:sp>
        <p:nvSpPr>
          <p:cNvPr id="19" name="block4-body"/>
          <p:cNvSpPr txBox="1"/>
          <p:nvPr/>
        </p:nvSpPr>
        <p:spPr>
          <a:xfrm>
            <a:off x="609600" y="5334000"/>
            <a:ext cx="419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8EA0B8"/>
                </a:solidFill>
                <a:latin typeface="MiSans"/>
                <a:ea typeface="MiSans"/>
              </a:rPr>
              <a:t>Hospitals, shelters, schools, drainage culverts, and power substations as live geospatial markers.</a:t>
            </a:r>
            <a:endParaRPr lang="en-US" sz="1000" noProof="1"/>
          </a:p>
        </p:txBody>
      </p:sp>
      <p:sp>
        <p:nvSpPr>
          <p:cNvPr id="20" name="tech-note"/>
          <p:cNvSpPr txBox="1"/>
          <p:nvPr/>
        </p:nvSpPr>
        <p:spPr>
          <a:xfrm>
            <a:off x="609600" y="5969000"/>
            <a:ext cx="419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35CFC9"/>
                </a:solidFill>
                <a:latin typeface="JetBrains Mono"/>
                <a:ea typeface="JetBrains Mono"/>
              </a:rPr>
              <a:t>MapLibre GL · zoom 5-18 · Fastly edge tiles</a:t>
            </a:r>
            <a:endParaRPr lang="en-US" sz="900" noProof="1"/>
          </a:p>
        </p:txBody>
      </p:sp>
      <p:pic>
        <p:nvPicPr>
          <p:cNvPr id="21" name="map-img"/>
          <p:cNvPicPr/>
          <p:nvPr/>
        </p:nvPicPr>
        <p:blipFill>
          <a:blip r:embed="rId2"/>
          <a:srcRect t="4094" b="4094"/>
          <a:stretch>
            <a:fillRect/>
          </a:stretch>
        </p:blipFill>
        <p:spPr>
          <a:xfrm>
            <a:off x="5334000" y="1397000"/>
            <a:ext cx="6248400" cy="4368800"/>
          </a:xfrm>
          <a:prstGeom prst="rect">
            <a:avLst/>
          </a:prstGeom>
          <a:ln>
            <a:noFill/>
          </a:ln>
        </p:spPr>
      </p:pic>
      <p:sp>
        <p:nvSpPr>
          <p:cNvPr id="22" name="map-img-border"/>
          <p:cNvSpPr/>
          <p:nvPr/>
        </p:nvSpPr>
        <p:spPr>
          <a:xfrm>
            <a:off x="5334000" y="1397000"/>
            <a:ext cx="6248400" cy="4368800"/>
          </a:xfrm>
          <a:prstGeom prst="rect">
            <a:avLst/>
          </a:prstGeom>
          <a:noFill/>
          <a:ln w="12700">
            <a:solidFill>
              <a:srgbClr val="22314F"/>
            </a:solidFill>
          </a:ln>
        </p:spPr>
      </p:sp>
      <p:sp>
        <p:nvSpPr>
          <p:cNvPr id="23" name="map-caption"/>
          <p:cNvSpPr txBox="1"/>
          <p:nvPr/>
        </p:nvSpPr>
        <p:spPr>
          <a:xfrm>
            <a:off x="5334000" y="5867400"/>
            <a:ext cx="6248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E8098"/>
                </a:solidFill>
                <a:latin typeface="MiSans"/>
                <a:ea typeface="MiSans"/>
              </a:rPr>
              <a:t>Interface render — extrusion heights and facility pins on the operations map.</a:t>
            </a:r>
            <a:endParaRPr lang="en-US" sz="900" noProof="1"/>
          </a:p>
        </p:txBody>
      </p:sp>
      <p:sp>
        <p:nvSpPr>
          <p:cNvPr id="24" name="footer-page"/>
          <p:cNvSpPr txBox="1"/>
          <p:nvPr/>
        </p:nvSpPr>
        <p:spPr>
          <a:xfrm>
            <a:off x="10160000" y="6616700"/>
            <a:ext cx="1422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4A5B78"/>
                </a:solidFill>
                <a:latin typeface="JetBrains Mono"/>
                <a:ea typeface="JetBrains Mono"/>
              </a:rPr>
              <a:t>05 / 10</a:t>
            </a:r>
            <a:endParaRPr lang="en-US" sz="8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11B0AB"/>
                </a:solidFill>
                <a:latin typeface="MiSans"/>
                <a:ea typeface="MiSans"/>
              </a:rPr>
              <a:t>05 · IMPACT MODEL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52238"/>
                </a:solidFill>
                <a:latin typeface="Archivo Black"/>
                <a:ea typeface="Archivo Black"/>
              </a:rPr>
              <a:t>One hazard, eight cascading societal domains</a:t>
            </a:r>
            <a:endParaRPr lang="en-US" sz="2500" noProof="1"/>
          </a:p>
        </p:txBody>
      </p:sp>
      <p:sp>
        <p:nvSpPr>
          <p:cNvPr id="4" name="tick"/>
          <p:cNvSpPr/>
          <p:nvPr/>
        </p:nvSpPr>
        <p:spPr>
          <a:xfrm>
            <a:off x="609600" y="1219200"/>
            <a:ext cx="4572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609600" y="13462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B6B7E"/>
                </a:solidFill>
                <a:latin typeface="MiSans"/>
                <a:ea typeface="MiSans"/>
              </a:rPr>
              <a:t>Every hazard probability propagates through the project charter's eight domains before it reaches the action planner.</a:t>
            </a:r>
            <a:endParaRPr lang="en-US" sz="1100" noProof="1"/>
          </a:p>
        </p:txBody>
      </p:sp>
      <p:sp>
        <p:nvSpPr>
          <p:cNvPr id="6" name="grid-v1"/>
          <p:cNvSpPr/>
          <p:nvPr/>
        </p:nvSpPr>
        <p:spPr>
          <a:xfrm>
            <a:off x="3352800" y="1778000"/>
            <a:ext cx="12700" cy="42672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7" name="grid-v2"/>
          <p:cNvSpPr/>
          <p:nvPr/>
        </p:nvSpPr>
        <p:spPr>
          <a:xfrm>
            <a:off x="6096000" y="1778000"/>
            <a:ext cx="12700" cy="42672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8" name="grid-v3"/>
          <p:cNvSpPr/>
          <p:nvPr/>
        </p:nvSpPr>
        <p:spPr>
          <a:xfrm>
            <a:off x="8839200" y="1778000"/>
            <a:ext cx="12700" cy="42672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9" name="grid-h1"/>
          <p:cNvSpPr/>
          <p:nvPr/>
        </p:nvSpPr>
        <p:spPr>
          <a:xfrm>
            <a:off x="609600" y="3911600"/>
            <a:ext cx="10972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10" name="d1-icon"/>
          <p:cNvSpPr/>
          <p:nvPr>
            <p:extLst>
              <p:ext uri="{F5677B7D-0D2A-4D9B-9A5C-6D8D7D0E5A5D}">
                <pptd:icon encoding="base64url">eyJpY29uTmFtZSI6ImZhczpjbG91ZC1zaG93ZXJzLWhlYXZ5In0</pptd:icon>
              </p:ext>
            </p:extLst>
          </p:nvPr>
        </p:nvSpPr>
        <p:spPr>
          <a:xfrm>
            <a:off x="609600" y="1930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6" y="320"/>
                </a:moveTo>
                <a:cubicBezTo>
                  <a:pt x="43" y="320"/>
                  <a:pt x="0" y="277"/>
                  <a:pt x="0" y="224"/>
                </a:cubicBezTo>
                <a:cubicBezTo>
                  <a:pt x="0" y="182"/>
                  <a:pt x="28" y="145"/>
                  <a:pt x="66" y="133"/>
                </a:cubicBezTo>
                <a:cubicBezTo>
                  <a:pt x="65" y="126"/>
                  <a:pt x="64" y="119"/>
                  <a:pt x="64" y="112"/>
                </a:cubicBezTo>
                <a:cubicBezTo>
                  <a:pt x="64" y="50"/>
                  <a:pt x="114" y="0"/>
                  <a:pt x="176" y="0"/>
                </a:cubicBezTo>
                <a:cubicBezTo>
                  <a:pt x="219" y="0"/>
                  <a:pt x="257" y="24"/>
                  <a:pt x="275" y="60"/>
                </a:cubicBezTo>
                <a:cubicBezTo>
                  <a:pt x="290" y="43"/>
                  <a:pt x="312" y="32"/>
                  <a:pt x="336" y="32"/>
                </a:cubicBezTo>
                <a:cubicBezTo>
                  <a:pt x="380" y="32"/>
                  <a:pt x="416" y="68"/>
                  <a:pt x="416" y="112"/>
                </a:cubicBezTo>
                <a:cubicBezTo>
                  <a:pt x="416" y="118"/>
                  <a:pt x="415" y="123"/>
                  <a:pt x="414" y="128"/>
                </a:cubicBezTo>
                <a:cubicBezTo>
                  <a:pt x="415" y="128"/>
                  <a:pt x="416" y="128"/>
                  <a:pt x="416" y="128"/>
                </a:cubicBezTo>
                <a:cubicBezTo>
                  <a:pt x="469" y="128"/>
                  <a:pt x="512" y="171"/>
                  <a:pt x="512" y="224"/>
                </a:cubicBezTo>
                <a:cubicBezTo>
                  <a:pt x="512" y="277"/>
                  <a:pt x="469" y="320"/>
                  <a:pt x="416" y="320"/>
                </a:cubicBezTo>
                <a:lnTo>
                  <a:pt x="96" y="320"/>
                </a:lnTo>
                <a:close/>
              </a:path>
              <a:path w="512" h="512">
                <a:moveTo>
                  <a:pt x="103" y="400"/>
                </a:moveTo>
                <a:lnTo>
                  <a:pt x="71" y="496"/>
                </a:lnTo>
                <a:cubicBezTo>
                  <a:pt x="67" y="508"/>
                  <a:pt x="53" y="515"/>
                  <a:pt x="40" y="511"/>
                </a:cubicBezTo>
                <a:cubicBezTo>
                  <a:pt x="28" y="507"/>
                  <a:pt x="21" y="493"/>
                  <a:pt x="25" y="480"/>
                </a:cubicBezTo>
                <a:lnTo>
                  <a:pt x="57" y="384"/>
                </a:lnTo>
                <a:cubicBezTo>
                  <a:pt x="61" y="372"/>
                  <a:pt x="75" y="365"/>
                  <a:pt x="88" y="369"/>
                </a:cubicBezTo>
                <a:cubicBezTo>
                  <a:pt x="100" y="373"/>
                  <a:pt x="107" y="387"/>
                  <a:pt x="103" y="400"/>
                </a:cubicBezTo>
                <a:close/>
              </a:path>
              <a:path w="512" h="512">
                <a:moveTo>
                  <a:pt x="223" y="400"/>
                </a:moveTo>
                <a:lnTo>
                  <a:pt x="191" y="496"/>
                </a:lnTo>
                <a:cubicBezTo>
                  <a:pt x="187" y="508"/>
                  <a:pt x="173" y="515"/>
                  <a:pt x="160" y="511"/>
                </a:cubicBezTo>
                <a:cubicBezTo>
                  <a:pt x="148" y="507"/>
                  <a:pt x="141" y="493"/>
                  <a:pt x="145" y="480"/>
                </a:cubicBezTo>
                <a:lnTo>
                  <a:pt x="177" y="384"/>
                </a:lnTo>
                <a:cubicBezTo>
                  <a:pt x="181" y="372"/>
                  <a:pt x="195" y="365"/>
                  <a:pt x="208" y="369"/>
                </a:cubicBezTo>
                <a:cubicBezTo>
                  <a:pt x="220" y="373"/>
                  <a:pt x="227" y="387"/>
                  <a:pt x="223" y="400"/>
                </a:cubicBezTo>
                <a:close/>
              </a:path>
              <a:path w="512" h="512">
                <a:moveTo>
                  <a:pt x="335" y="400"/>
                </a:moveTo>
                <a:lnTo>
                  <a:pt x="303" y="496"/>
                </a:lnTo>
                <a:cubicBezTo>
                  <a:pt x="299" y="508"/>
                  <a:pt x="285" y="515"/>
                  <a:pt x="272" y="511"/>
                </a:cubicBezTo>
                <a:cubicBezTo>
                  <a:pt x="260" y="507"/>
                  <a:pt x="253" y="493"/>
                  <a:pt x="257" y="480"/>
                </a:cubicBezTo>
                <a:lnTo>
                  <a:pt x="289" y="384"/>
                </a:lnTo>
                <a:cubicBezTo>
                  <a:pt x="293" y="372"/>
                  <a:pt x="307" y="365"/>
                  <a:pt x="320" y="369"/>
                </a:cubicBezTo>
                <a:cubicBezTo>
                  <a:pt x="332" y="373"/>
                  <a:pt x="339" y="387"/>
                  <a:pt x="335" y="400"/>
                </a:cubicBezTo>
                <a:close/>
              </a:path>
              <a:path w="512" h="512">
                <a:moveTo>
                  <a:pt x="455" y="400"/>
                </a:moveTo>
                <a:lnTo>
                  <a:pt x="423" y="496"/>
                </a:lnTo>
                <a:cubicBezTo>
                  <a:pt x="419" y="508"/>
                  <a:pt x="405" y="515"/>
                  <a:pt x="392" y="511"/>
                </a:cubicBezTo>
                <a:cubicBezTo>
                  <a:pt x="380" y="507"/>
                  <a:pt x="373" y="493"/>
                  <a:pt x="377" y="480"/>
                </a:cubicBezTo>
                <a:lnTo>
                  <a:pt x="409" y="384"/>
                </a:lnTo>
                <a:cubicBezTo>
                  <a:pt x="413" y="372"/>
                  <a:pt x="427" y="365"/>
                  <a:pt x="440" y="369"/>
                </a:cubicBezTo>
                <a:cubicBezTo>
                  <a:pt x="452" y="373"/>
                  <a:pt x="459" y="387"/>
                  <a:pt x="455" y="400"/>
                </a:cubicBezTo>
                <a:close/>
              </a:path>
            </a:pathLst>
          </a:custGeom>
          <a:solidFill>
            <a:srgbClr val="11B0AB"/>
          </a:solidFill>
          <a:ln>
            <a:noFill/>
          </a:ln>
        </p:spPr>
      </p:sp>
      <p:sp>
        <p:nvSpPr>
          <p:cNvPr id="11" name="d1-num"/>
          <p:cNvSpPr txBox="1"/>
          <p:nvPr/>
        </p:nvSpPr>
        <p:spPr>
          <a:xfrm>
            <a:off x="2590800" y="1955800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01</a:t>
            </a:r>
            <a:endParaRPr lang="en-US" sz="850" noProof="1"/>
          </a:p>
        </p:txBody>
      </p:sp>
      <p:sp>
        <p:nvSpPr>
          <p:cNvPr id="12" name="d1-title"/>
          <p:cNvSpPr txBox="1"/>
          <p:nvPr/>
        </p:nvSpPr>
        <p:spPr>
          <a:xfrm>
            <a:off x="609600" y="23368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01E3C"/>
                </a:solidFill>
                <a:latin typeface="MiSans"/>
                <a:ea typeface="MiSans"/>
              </a:rPr>
              <a:t>Physical Impact</a:t>
            </a:r>
            <a:endParaRPr lang="en-US" sz="1250" noProof="1"/>
          </a:p>
        </p:txBody>
      </p:sp>
      <p:sp>
        <p:nvSpPr>
          <p:cNvPr id="13" name="d1-desc"/>
          <p:cNvSpPr txBox="1"/>
          <p:nvPr/>
        </p:nvSpPr>
        <p:spPr>
          <a:xfrm>
            <a:off x="609600" y="2641600"/>
            <a:ext cx="2590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Precipitation volume, flood depth, and structural inundation risk.</a:t>
            </a:r>
            <a:endParaRPr lang="en-US" sz="950" noProof="1"/>
          </a:p>
        </p:txBody>
      </p:sp>
      <p:sp>
        <p:nvSpPr>
          <p:cNvPr id="14" name="d2-icon"/>
          <p:cNvSpPr/>
          <p:nvPr>
            <p:extLst>
              <p:ext uri="{F5677B7D-0D2A-4D9B-9A5C-6D8D7D0E5A5D}">
                <pptd:icon encoding="base64url">eyJpY29uTmFtZSI6ImZhczpoZWFydC1wdWxzZSJ9</pptd:icon>
              </p:ext>
            </p:extLst>
          </p:nvPr>
        </p:nvSpPr>
        <p:spPr>
          <a:xfrm>
            <a:off x="3556000" y="1930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108"/>
                </a:moveTo>
                <a:lnTo>
                  <a:pt x="241" y="87"/>
                </a:lnTo>
                <a:cubicBezTo>
                  <a:pt x="216" y="53"/>
                  <a:pt x="176" y="32"/>
                  <a:pt x="133" y="32"/>
                </a:cubicBezTo>
                <a:cubicBezTo>
                  <a:pt x="60" y="32"/>
                  <a:pt x="0" y="92"/>
                  <a:pt x="0" y="165"/>
                </a:cubicBezTo>
                <a:lnTo>
                  <a:pt x="0" y="168"/>
                </a:lnTo>
                <a:cubicBezTo>
                  <a:pt x="0" y="191"/>
                  <a:pt x="6" y="216"/>
                  <a:pt x="17" y="240"/>
                </a:cubicBezTo>
                <a:lnTo>
                  <a:pt x="123" y="240"/>
                </a:lnTo>
                <a:cubicBezTo>
                  <a:pt x="126" y="240"/>
                  <a:pt x="129" y="238"/>
                  <a:pt x="130" y="235"/>
                </a:cubicBezTo>
                <a:lnTo>
                  <a:pt x="162" y="159"/>
                </a:lnTo>
                <a:cubicBezTo>
                  <a:pt x="166" y="150"/>
                  <a:pt x="174" y="144"/>
                  <a:pt x="184" y="144"/>
                </a:cubicBezTo>
                <a:cubicBezTo>
                  <a:pt x="193" y="144"/>
                  <a:pt x="202" y="149"/>
                  <a:pt x="206" y="158"/>
                </a:cubicBezTo>
                <a:lnTo>
                  <a:pt x="257" y="272"/>
                </a:lnTo>
                <a:lnTo>
                  <a:pt x="299" y="189"/>
                </a:lnTo>
                <a:cubicBezTo>
                  <a:pt x="303" y="181"/>
                  <a:pt x="311" y="176"/>
                  <a:pt x="320" y="176"/>
                </a:cubicBezTo>
                <a:cubicBezTo>
                  <a:pt x="329" y="176"/>
                  <a:pt x="337" y="181"/>
                  <a:pt x="342" y="189"/>
                </a:cubicBezTo>
                <a:lnTo>
                  <a:pt x="365" y="236"/>
                </a:lnTo>
                <a:cubicBezTo>
                  <a:pt x="366" y="238"/>
                  <a:pt x="369" y="240"/>
                  <a:pt x="372" y="240"/>
                </a:cubicBezTo>
                <a:lnTo>
                  <a:pt x="496" y="240"/>
                </a:lnTo>
                <a:cubicBezTo>
                  <a:pt x="506" y="216"/>
                  <a:pt x="512" y="191"/>
                  <a:pt x="512" y="168"/>
                </a:cubicBezTo>
                <a:lnTo>
                  <a:pt x="512" y="165"/>
                </a:lnTo>
                <a:cubicBezTo>
                  <a:pt x="512" y="92"/>
                  <a:pt x="452" y="32"/>
                  <a:pt x="379" y="32"/>
                </a:cubicBezTo>
                <a:cubicBezTo>
                  <a:pt x="336" y="32"/>
                  <a:pt x="296" y="53"/>
                  <a:pt x="271" y="87"/>
                </a:cubicBezTo>
                <a:lnTo>
                  <a:pt x="256" y="108"/>
                </a:lnTo>
                <a:close/>
                <a:moveTo>
                  <a:pt x="470" y="288"/>
                </a:moveTo>
                <a:lnTo>
                  <a:pt x="372" y="288"/>
                </a:lnTo>
                <a:cubicBezTo>
                  <a:pt x="351" y="288"/>
                  <a:pt x="331" y="276"/>
                  <a:pt x="322" y="257"/>
                </a:cubicBezTo>
                <a:lnTo>
                  <a:pt x="320" y="254"/>
                </a:lnTo>
                <a:lnTo>
                  <a:pt x="278" y="339"/>
                </a:lnTo>
                <a:cubicBezTo>
                  <a:pt x="273" y="347"/>
                  <a:pt x="265" y="352"/>
                  <a:pt x="256" y="352"/>
                </a:cubicBezTo>
                <a:cubicBezTo>
                  <a:pt x="246" y="352"/>
                  <a:pt x="238" y="346"/>
                  <a:pt x="234" y="338"/>
                </a:cubicBezTo>
                <a:lnTo>
                  <a:pt x="185" y="228"/>
                </a:lnTo>
                <a:lnTo>
                  <a:pt x="174" y="254"/>
                </a:lnTo>
                <a:cubicBezTo>
                  <a:pt x="166" y="274"/>
                  <a:pt x="145" y="288"/>
                  <a:pt x="123" y="288"/>
                </a:cubicBezTo>
                <a:lnTo>
                  <a:pt x="42" y="288"/>
                </a:lnTo>
                <a:cubicBezTo>
                  <a:pt x="90" y="362"/>
                  <a:pt x="165" y="430"/>
                  <a:pt x="213" y="466"/>
                </a:cubicBezTo>
                <a:cubicBezTo>
                  <a:pt x="225" y="475"/>
                  <a:pt x="240" y="480"/>
                  <a:pt x="256" y="480"/>
                </a:cubicBezTo>
                <a:cubicBezTo>
                  <a:pt x="271" y="480"/>
                  <a:pt x="287" y="476"/>
                  <a:pt x="299" y="466"/>
                </a:cubicBezTo>
                <a:cubicBezTo>
                  <a:pt x="347" y="430"/>
                  <a:pt x="422" y="362"/>
                  <a:pt x="470" y="288"/>
                </a:cubicBezTo>
                <a:close/>
              </a:path>
            </a:pathLst>
          </a:custGeom>
          <a:solidFill>
            <a:srgbClr val="11B0AB"/>
          </a:solidFill>
          <a:ln>
            <a:noFill/>
          </a:ln>
        </p:spPr>
      </p:sp>
      <p:sp>
        <p:nvSpPr>
          <p:cNvPr id="15" name="d2-num"/>
          <p:cNvSpPr txBox="1"/>
          <p:nvPr/>
        </p:nvSpPr>
        <p:spPr>
          <a:xfrm>
            <a:off x="5334000" y="1955800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02</a:t>
            </a:r>
            <a:endParaRPr lang="en-US" sz="850" noProof="1"/>
          </a:p>
        </p:txBody>
      </p:sp>
      <p:sp>
        <p:nvSpPr>
          <p:cNvPr id="16" name="d2-title"/>
          <p:cNvSpPr txBox="1"/>
          <p:nvPr/>
        </p:nvSpPr>
        <p:spPr>
          <a:xfrm>
            <a:off x="3556000" y="23368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01E3C"/>
                </a:solidFill>
                <a:latin typeface="MiSans"/>
                <a:ea typeface="MiSans"/>
              </a:rPr>
              <a:t>Public Health</a:t>
            </a:r>
            <a:endParaRPr lang="en-US" sz="1250" noProof="1"/>
          </a:p>
        </p:txBody>
      </p:sp>
      <p:sp>
        <p:nvSpPr>
          <p:cNvPr id="17" name="d2-desc"/>
          <p:cNvSpPr txBox="1"/>
          <p:nvPr/>
        </p:nvSpPr>
        <p:spPr>
          <a:xfrm>
            <a:off x="3556000" y="2641600"/>
            <a:ext cx="2387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Heat-index thresholds at 35 / 40 / 45 °C, heatstroke risk, hospital travel times.</a:t>
            </a:r>
            <a:endParaRPr lang="en-US" sz="950" noProof="1"/>
          </a:p>
        </p:txBody>
      </p:sp>
      <p:sp>
        <p:nvSpPr>
          <p:cNvPr id="18" name="d3-icon"/>
          <p:cNvSpPr/>
          <p:nvPr>
            <p:extLst>
              <p:ext uri="{F5677B7D-0D2A-4D9B-9A5C-6D8D7D0E5A5D}">
                <pptd:icon encoding="base64url">eyJpY29uTmFtZSI6ImZhczpyb2FkIn0</pptd:icon>
              </p:ext>
            </p:extLst>
          </p:nvPr>
        </p:nvSpPr>
        <p:spPr>
          <a:xfrm>
            <a:off x="6299200" y="1930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32"/>
                </a:moveTo>
                <a:lnTo>
                  <a:pt x="148" y="32"/>
                </a:lnTo>
                <a:cubicBezTo>
                  <a:pt x="118" y="32"/>
                  <a:pt x="93" y="52"/>
                  <a:pt x="86" y="81"/>
                </a:cubicBezTo>
                <a:lnTo>
                  <a:pt x="1" y="421"/>
                </a:lnTo>
                <a:cubicBezTo>
                  <a:pt x="-6" y="451"/>
                  <a:pt x="17" y="480"/>
                  <a:pt x="48" y="480"/>
                </a:cubicBezTo>
                <a:lnTo>
                  <a:pt x="224" y="480"/>
                </a:lnTo>
                <a:lnTo>
                  <a:pt x="224" y="416"/>
                </a:lnTo>
                <a:cubicBezTo>
                  <a:pt x="224" y="398"/>
                  <a:pt x="238" y="384"/>
                  <a:pt x="256" y="384"/>
                </a:cubicBezTo>
                <a:cubicBezTo>
                  <a:pt x="274" y="384"/>
                  <a:pt x="288" y="398"/>
                  <a:pt x="288" y="416"/>
                </a:cubicBezTo>
                <a:lnTo>
                  <a:pt x="288" y="480"/>
                </a:lnTo>
                <a:lnTo>
                  <a:pt x="464" y="480"/>
                </a:lnTo>
                <a:cubicBezTo>
                  <a:pt x="495" y="480"/>
                  <a:pt x="518" y="451"/>
                  <a:pt x="511" y="421"/>
                </a:cubicBezTo>
                <a:lnTo>
                  <a:pt x="427" y="81"/>
                </a:lnTo>
                <a:cubicBezTo>
                  <a:pt x="419" y="52"/>
                  <a:pt x="394" y="32"/>
                  <a:pt x="364" y="32"/>
                </a:cubicBezTo>
                <a:lnTo>
                  <a:pt x="288" y="32"/>
                </a:lnTo>
                <a:lnTo>
                  <a:pt x="288" y="96"/>
                </a:lnTo>
                <a:cubicBezTo>
                  <a:pt x="288" y="114"/>
                  <a:pt x="274" y="128"/>
                  <a:pt x="256" y="128"/>
                </a:cubicBezTo>
                <a:cubicBezTo>
                  <a:pt x="238" y="128"/>
                  <a:pt x="224" y="114"/>
                  <a:pt x="224" y="96"/>
                </a:cubicBezTo>
                <a:lnTo>
                  <a:pt x="224" y="32"/>
                </a:lnTo>
                <a:close/>
                <a:moveTo>
                  <a:pt x="288" y="224"/>
                </a:moveTo>
                <a:lnTo>
                  <a:pt x="288" y="288"/>
                </a:lnTo>
                <a:cubicBezTo>
                  <a:pt x="288" y="306"/>
                  <a:pt x="274" y="320"/>
                  <a:pt x="256" y="320"/>
                </a:cubicBezTo>
                <a:cubicBezTo>
                  <a:pt x="238" y="320"/>
                  <a:pt x="224" y="306"/>
                  <a:pt x="224" y="288"/>
                </a:cubicBezTo>
                <a:lnTo>
                  <a:pt x="224" y="224"/>
                </a:lnTo>
                <a:cubicBezTo>
                  <a:pt x="224" y="206"/>
                  <a:pt x="238" y="192"/>
                  <a:pt x="256" y="192"/>
                </a:cubicBezTo>
                <a:cubicBezTo>
                  <a:pt x="274" y="192"/>
                  <a:pt x="288" y="206"/>
                  <a:pt x="288" y="224"/>
                </a:cubicBezTo>
                <a:close/>
              </a:path>
            </a:pathLst>
          </a:custGeom>
          <a:solidFill>
            <a:srgbClr val="11B0AB"/>
          </a:solidFill>
          <a:ln>
            <a:noFill/>
          </a:ln>
        </p:spPr>
      </p:sp>
      <p:sp>
        <p:nvSpPr>
          <p:cNvPr id="19" name="d3-num"/>
          <p:cNvSpPr txBox="1"/>
          <p:nvPr/>
        </p:nvSpPr>
        <p:spPr>
          <a:xfrm>
            <a:off x="8077200" y="1955800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03</a:t>
            </a:r>
            <a:endParaRPr lang="en-US" sz="850" noProof="1"/>
          </a:p>
        </p:txBody>
      </p:sp>
      <p:sp>
        <p:nvSpPr>
          <p:cNvPr id="20" name="d3-title"/>
          <p:cNvSpPr txBox="1"/>
          <p:nvPr/>
        </p:nvSpPr>
        <p:spPr>
          <a:xfrm>
            <a:off x="6299200" y="23368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01E3C"/>
                </a:solidFill>
                <a:latin typeface="MiSans"/>
                <a:ea typeface="MiSans"/>
              </a:rPr>
              <a:t>Infrastructure</a:t>
            </a:r>
            <a:endParaRPr lang="en-US" sz="1250" noProof="1"/>
          </a:p>
        </p:txBody>
      </p:sp>
      <p:sp>
        <p:nvSpPr>
          <p:cNvPr id="21" name="d3-desc"/>
          <p:cNvSpPr txBox="1"/>
          <p:nvPr/>
        </p:nvSpPr>
        <p:spPr>
          <a:xfrm>
            <a:off x="6299200" y="2641600"/>
            <a:ext cx="2387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Inundated road networks, disabled substations, critical culvert choke points.</a:t>
            </a:r>
            <a:endParaRPr lang="en-US" sz="950" noProof="1"/>
          </a:p>
        </p:txBody>
      </p:sp>
      <p:sp>
        <p:nvSpPr>
          <p:cNvPr id="22" name="d4-icon"/>
          <p:cNvSpPr/>
          <p:nvPr>
            <p:extLst>
              <p:ext uri="{F5677B7D-0D2A-4D9B-9A5C-6D8D7D0E5A5D}">
                <pptd:icon encoding="base64url">eyJpY29uTmFtZSI6ImZhczp0cnVjay1tZWRpY2FsIn0</pptd:icon>
              </p:ext>
            </p:extLst>
          </p:nvPr>
        </p:nvSpPr>
        <p:spPr>
          <a:xfrm>
            <a:off x="9042400" y="1930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67" y="448"/>
                </a:lnTo>
                <a:cubicBezTo>
                  <a:pt x="78" y="485"/>
                  <a:pt x="112" y="512"/>
                  <a:pt x="152" y="512"/>
                </a:cubicBezTo>
                <a:cubicBezTo>
                  <a:pt x="192" y="512"/>
                  <a:pt x="226" y="485"/>
                  <a:pt x="237" y="448"/>
                </a:cubicBezTo>
                <a:lnTo>
                  <a:pt x="339" y="448"/>
                </a:lnTo>
                <a:cubicBezTo>
                  <a:pt x="350" y="485"/>
                  <a:pt x="384" y="512"/>
                  <a:pt x="424" y="512"/>
                </a:cubicBezTo>
                <a:cubicBezTo>
                  <a:pt x="464" y="512"/>
                  <a:pt x="498" y="485"/>
                  <a:pt x="509" y="448"/>
                </a:cubicBezTo>
                <a:lnTo>
                  <a:pt x="512" y="448"/>
                </a:lnTo>
                <a:cubicBezTo>
                  <a:pt x="547" y="448"/>
                  <a:pt x="576" y="419"/>
                  <a:pt x="576" y="384"/>
                </a:cubicBezTo>
                <a:lnTo>
                  <a:pt x="576" y="237"/>
                </a:lnTo>
                <a:cubicBezTo>
                  <a:pt x="576" y="220"/>
                  <a:pt x="569" y="204"/>
                  <a:pt x="557" y="192"/>
                </a:cubicBezTo>
                <a:lnTo>
                  <a:pt x="512" y="147"/>
                </a:lnTo>
                <a:cubicBezTo>
                  <a:pt x="500" y="135"/>
                  <a:pt x="484" y="128"/>
                  <a:pt x="467" y="128"/>
                </a:cubicBezTo>
                <a:lnTo>
                  <a:pt x="416" y="128"/>
                </a:lnTo>
                <a:lnTo>
                  <a:pt x="416" y="96"/>
                </a:lnTo>
                <a:cubicBezTo>
                  <a:pt x="416" y="61"/>
                  <a:pt x="387" y="32"/>
                  <a:pt x="352" y="32"/>
                </a:cubicBezTo>
                <a:lnTo>
                  <a:pt x="64" y="32"/>
                </a:lnTo>
                <a:close/>
                <a:moveTo>
                  <a:pt x="512" y="237"/>
                </a:moveTo>
                <a:lnTo>
                  <a:pt x="512" y="288"/>
                </a:lnTo>
                <a:lnTo>
                  <a:pt x="416" y="288"/>
                </a:lnTo>
                <a:lnTo>
                  <a:pt x="416" y="192"/>
                </a:lnTo>
                <a:lnTo>
                  <a:pt x="467" y="192"/>
                </a:lnTo>
                <a:lnTo>
                  <a:pt x="512" y="237"/>
                </a:lnTo>
                <a:close/>
                <a:moveTo>
                  <a:pt x="152" y="384"/>
                </a:moveTo>
                <a:cubicBezTo>
                  <a:pt x="174" y="384"/>
                  <a:pt x="192" y="402"/>
                  <a:pt x="192" y="424"/>
                </a:cubicBezTo>
                <a:cubicBezTo>
                  <a:pt x="192" y="446"/>
                  <a:pt x="174" y="464"/>
                  <a:pt x="152" y="464"/>
                </a:cubicBezTo>
                <a:cubicBezTo>
                  <a:pt x="130" y="464"/>
                  <a:pt x="112" y="446"/>
                  <a:pt x="112" y="424"/>
                </a:cubicBezTo>
                <a:cubicBezTo>
                  <a:pt x="112" y="402"/>
                  <a:pt x="130" y="384"/>
                  <a:pt x="152" y="384"/>
                </a:cubicBezTo>
                <a:close/>
                <a:moveTo>
                  <a:pt x="384" y="424"/>
                </a:moveTo>
                <a:cubicBezTo>
                  <a:pt x="384" y="402"/>
                  <a:pt x="402" y="384"/>
                  <a:pt x="424" y="384"/>
                </a:cubicBezTo>
                <a:cubicBezTo>
                  <a:pt x="446" y="384"/>
                  <a:pt x="464" y="402"/>
                  <a:pt x="464" y="424"/>
                </a:cubicBezTo>
                <a:cubicBezTo>
                  <a:pt x="464" y="446"/>
                  <a:pt x="446" y="464"/>
                  <a:pt x="424" y="464"/>
                </a:cubicBezTo>
                <a:cubicBezTo>
                  <a:pt x="402" y="464"/>
                  <a:pt x="384" y="446"/>
                  <a:pt x="384" y="424"/>
                </a:cubicBezTo>
                <a:close/>
                <a:moveTo>
                  <a:pt x="176" y="136"/>
                </a:moveTo>
                <a:cubicBezTo>
                  <a:pt x="176" y="127"/>
                  <a:pt x="183" y="120"/>
                  <a:pt x="192" y="120"/>
                </a:cubicBezTo>
                <a:lnTo>
                  <a:pt x="224" y="120"/>
                </a:lnTo>
                <a:cubicBezTo>
                  <a:pt x="233" y="120"/>
                  <a:pt x="240" y="127"/>
                  <a:pt x="240" y="136"/>
                </a:cubicBezTo>
                <a:lnTo>
                  <a:pt x="240" y="176"/>
                </a:lnTo>
                <a:lnTo>
                  <a:pt x="280" y="176"/>
                </a:lnTo>
                <a:cubicBezTo>
                  <a:pt x="289" y="176"/>
                  <a:pt x="296" y="183"/>
                  <a:pt x="296" y="192"/>
                </a:cubicBezTo>
                <a:lnTo>
                  <a:pt x="296" y="224"/>
                </a:lnTo>
                <a:cubicBezTo>
                  <a:pt x="296" y="233"/>
                  <a:pt x="289" y="240"/>
                  <a:pt x="280" y="240"/>
                </a:cubicBezTo>
                <a:lnTo>
                  <a:pt x="240" y="240"/>
                </a:lnTo>
                <a:lnTo>
                  <a:pt x="240" y="280"/>
                </a:lnTo>
                <a:cubicBezTo>
                  <a:pt x="240" y="289"/>
                  <a:pt x="233" y="296"/>
                  <a:pt x="224" y="296"/>
                </a:cubicBezTo>
                <a:lnTo>
                  <a:pt x="192" y="296"/>
                </a:lnTo>
                <a:cubicBezTo>
                  <a:pt x="183" y="296"/>
                  <a:pt x="176" y="289"/>
                  <a:pt x="176" y="280"/>
                </a:cubicBezTo>
                <a:lnTo>
                  <a:pt x="176" y="240"/>
                </a:lnTo>
                <a:lnTo>
                  <a:pt x="136" y="240"/>
                </a:lnTo>
                <a:cubicBezTo>
                  <a:pt x="127" y="240"/>
                  <a:pt x="120" y="233"/>
                  <a:pt x="120" y="224"/>
                </a:cubicBezTo>
                <a:lnTo>
                  <a:pt x="120" y="192"/>
                </a:lnTo>
                <a:cubicBezTo>
                  <a:pt x="120" y="183"/>
                  <a:pt x="127" y="176"/>
                  <a:pt x="136" y="176"/>
                </a:cubicBezTo>
                <a:lnTo>
                  <a:pt x="176" y="176"/>
                </a:lnTo>
                <a:lnTo>
                  <a:pt x="176" y="136"/>
                </a:lnTo>
                <a:close/>
              </a:path>
            </a:pathLst>
          </a:custGeom>
          <a:solidFill>
            <a:srgbClr val="11B0AB"/>
          </a:solidFill>
          <a:ln>
            <a:noFill/>
          </a:ln>
        </p:spPr>
      </p:sp>
      <p:sp>
        <p:nvSpPr>
          <p:cNvPr id="23" name="d4-num"/>
          <p:cNvSpPr txBox="1"/>
          <p:nvPr/>
        </p:nvSpPr>
        <p:spPr>
          <a:xfrm>
            <a:off x="10820400" y="1955800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04</a:t>
            </a:r>
            <a:endParaRPr lang="en-US" sz="850" noProof="1"/>
          </a:p>
        </p:txBody>
      </p:sp>
      <p:sp>
        <p:nvSpPr>
          <p:cNvPr id="24" name="d4-title"/>
          <p:cNvSpPr txBox="1"/>
          <p:nvPr/>
        </p:nvSpPr>
        <p:spPr>
          <a:xfrm>
            <a:off x="9042400" y="23368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01E3C"/>
                </a:solidFill>
                <a:latin typeface="MiSans"/>
                <a:ea typeface="MiSans"/>
              </a:rPr>
              <a:t>Emergency Services</a:t>
            </a:r>
            <a:endParaRPr lang="en-US" sz="1250" noProof="1"/>
          </a:p>
        </p:txBody>
      </p:sp>
      <p:sp>
        <p:nvSpPr>
          <p:cNvPr id="25" name="d4-desc"/>
          <p:cNvSpPr txBox="1"/>
          <p:nvPr/>
        </p:nvSpPr>
        <p:spPr>
          <a:xfrm>
            <a:off x="9042400" y="26416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Rescue 1122 boat routes, shelter capacity, accessibility bottlenecks.</a:t>
            </a:r>
            <a:endParaRPr lang="en-US" sz="950" noProof="1"/>
          </a:p>
        </p:txBody>
      </p:sp>
      <p:sp>
        <p:nvSpPr>
          <p:cNvPr id="26" name="d5-icon"/>
          <p:cNvSpPr/>
          <p:nvPr>
            <p:extLst>
              <p:ext uri="{F5677B7D-0D2A-4D9B-9A5C-6D8D7D0E5A5D}">
                <pptd:icon encoding="base64url">eyJpY29uTmFtZSI6ImZhczpwZW9wbGUtZ3JvdXAifQ</pptd:icon>
              </p:ext>
            </p:extLst>
          </p:nvPr>
        </p:nvSpPr>
        <p:spPr>
          <a:xfrm>
            <a:off x="609600" y="4064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91" y="0"/>
                  <a:pt x="320" y="29"/>
                  <a:pt x="320" y="64"/>
                </a:cubicBezTo>
                <a:cubicBezTo>
                  <a:pt x="320" y="99"/>
                  <a:pt x="291" y="128"/>
                  <a:pt x="256" y="128"/>
                </a:cubicBezTo>
                <a:cubicBezTo>
                  <a:pt x="221" y="128"/>
                  <a:pt x="192" y="99"/>
                  <a:pt x="192" y="64"/>
                </a:cubicBezTo>
                <a:cubicBezTo>
                  <a:pt x="192" y="29"/>
                  <a:pt x="221" y="0"/>
                  <a:pt x="256" y="0"/>
                </a:cubicBezTo>
                <a:close/>
              </a:path>
              <a:path w="512" h="512">
                <a:moveTo>
                  <a:pt x="352" y="312"/>
                </a:moveTo>
                <a:cubicBezTo>
                  <a:pt x="352" y="337"/>
                  <a:pt x="339" y="359"/>
                  <a:pt x="320" y="372"/>
                </a:cubicBezTo>
                <a:lnTo>
                  <a:pt x="320" y="464"/>
                </a:lnTo>
                <a:cubicBezTo>
                  <a:pt x="320" y="491"/>
                  <a:pt x="299" y="512"/>
                  <a:pt x="272" y="512"/>
                </a:cubicBezTo>
                <a:lnTo>
                  <a:pt x="240" y="512"/>
                </a:lnTo>
                <a:cubicBezTo>
                  <a:pt x="214" y="512"/>
                  <a:pt x="192" y="491"/>
                  <a:pt x="192" y="464"/>
                </a:cubicBezTo>
                <a:lnTo>
                  <a:pt x="192" y="372"/>
                </a:lnTo>
                <a:cubicBezTo>
                  <a:pt x="173" y="359"/>
                  <a:pt x="160" y="337"/>
                  <a:pt x="160" y="312"/>
                </a:cubicBezTo>
                <a:lnTo>
                  <a:pt x="160" y="272"/>
                </a:lnTo>
                <a:cubicBezTo>
                  <a:pt x="160" y="219"/>
                  <a:pt x="203" y="176"/>
                  <a:pt x="256" y="176"/>
                </a:cubicBezTo>
                <a:cubicBezTo>
                  <a:pt x="309" y="176"/>
                  <a:pt x="352" y="219"/>
                  <a:pt x="352" y="272"/>
                </a:cubicBezTo>
                <a:lnTo>
                  <a:pt x="352" y="312"/>
                </a:lnTo>
                <a:close/>
              </a:path>
              <a:path w="512" h="512">
                <a:moveTo>
                  <a:pt x="96" y="32"/>
                </a:moveTo>
                <a:cubicBezTo>
                  <a:pt x="127" y="32"/>
                  <a:pt x="152" y="57"/>
                  <a:pt x="152" y="88"/>
                </a:cubicBezTo>
                <a:cubicBezTo>
                  <a:pt x="152" y="119"/>
                  <a:pt x="127" y="144"/>
                  <a:pt x="96" y="144"/>
                </a:cubicBezTo>
                <a:cubicBezTo>
                  <a:pt x="65" y="144"/>
                  <a:pt x="40" y="119"/>
                  <a:pt x="40" y="88"/>
                </a:cubicBezTo>
                <a:cubicBezTo>
                  <a:pt x="40" y="57"/>
                  <a:pt x="65" y="32"/>
                  <a:pt x="96" y="32"/>
                </a:cubicBezTo>
                <a:close/>
              </a:path>
              <a:path w="512" h="512">
                <a:moveTo>
                  <a:pt x="112" y="272"/>
                </a:moveTo>
                <a:lnTo>
                  <a:pt x="112" y="304"/>
                </a:lnTo>
                <a:cubicBezTo>
                  <a:pt x="112" y="337"/>
                  <a:pt x="124" y="366"/>
                  <a:pt x="144" y="389"/>
                </a:cubicBezTo>
                <a:lnTo>
                  <a:pt x="144" y="464"/>
                </a:lnTo>
                <a:cubicBezTo>
                  <a:pt x="144" y="465"/>
                  <a:pt x="144" y="467"/>
                  <a:pt x="144" y="468"/>
                </a:cubicBezTo>
                <a:cubicBezTo>
                  <a:pt x="136" y="475"/>
                  <a:pt x="124" y="480"/>
                  <a:pt x="112" y="480"/>
                </a:cubicBezTo>
                <a:lnTo>
                  <a:pt x="80" y="480"/>
                </a:lnTo>
                <a:cubicBezTo>
                  <a:pt x="54" y="480"/>
                  <a:pt x="32" y="459"/>
                  <a:pt x="32" y="432"/>
                </a:cubicBezTo>
                <a:lnTo>
                  <a:pt x="32" y="375"/>
                </a:lnTo>
                <a:cubicBezTo>
                  <a:pt x="13" y="364"/>
                  <a:pt x="0" y="344"/>
                  <a:pt x="0" y="320"/>
                </a:cubicBezTo>
                <a:lnTo>
                  <a:pt x="0" y="288"/>
                </a:lnTo>
                <a:cubicBezTo>
                  <a:pt x="0" y="235"/>
                  <a:pt x="43" y="192"/>
                  <a:pt x="96" y="192"/>
                </a:cubicBezTo>
                <a:cubicBezTo>
                  <a:pt x="109" y="192"/>
                  <a:pt x="121" y="195"/>
                  <a:pt x="132" y="199"/>
                </a:cubicBezTo>
                <a:cubicBezTo>
                  <a:pt x="119" y="220"/>
                  <a:pt x="112" y="245"/>
                  <a:pt x="112" y="272"/>
                </a:cubicBezTo>
                <a:close/>
              </a:path>
              <a:path w="512" h="512">
                <a:moveTo>
                  <a:pt x="368" y="464"/>
                </a:moveTo>
                <a:lnTo>
                  <a:pt x="368" y="389"/>
                </a:lnTo>
                <a:cubicBezTo>
                  <a:pt x="388" y="366"/>
                  <a:pt x="400" y="337"/>
                  <a:pt x="400" y="304"/>
                </a:cubicBezTo>
                <a:lnTo>
                  <a:pt x="400" y="272"/>
                </a:lnTo>
                <a:cubicBezTo>
                  <a:pt x="400" y="245"/>
                  <a:pt x="393" y="220"/>
                  <a:pt x="380" y="199"/>
                </a:cubicBezTo>
                <a:cubicBezTo>
                  <a:pt x="391" y="194"/>
                  <a:pt x="403" y="192"/>
                  <a:pt x="416" y="192"/>
                </a:cubicBezTo>
                <a:cubicBezTo>
                  <a:pt x="469" y="192"/>
                  <a:pt x="512" y="235"/>
                  <a:pt x="512" y="288"/>
                </a:cubicBezTo>
                <a:lnTo>
                  <a:pt x="512" y="320"/>
                </a:lnTo>
                <a:cubicBezTo>
                  <a:pt x="512" y="344"/>
                  <a:pt x="499" y="364"/>
                  <a:pt x="480" y="375"/>
                </a:cubicBezTo>
                <a:lnTo>
                  <a:pt x="480" y="432"/>
                </a:lnTo>
                <a:cubicBezTo>
                  <a:pt x="480" y="459"/>
                  <a:pt x="459" y="480"/>
                  <a:pt x="432" y="480"/>
                </a:cubicBezTo>
                <a:lnTo>
                  <a:pt x="400" y="480"/>
                </a:lnTo>
                <a:cubicBezTo>
                  <a:pt x="388" y="480"/>
                  <a:pt x="376" y="475"/>
                  <a:pt x="368" y="468"/>
                </a:cubicBezTo>
                <a:cubicBezTo>
                  <a:pt x="368" y="467"/>
                  <a:pt x="368" y="465"/>
                  <a:pt x="368" y="464"/>
                </a:cubicBezTo>
                <a:close/>
              </a:path>
              <a:path w="512" h="512">
                <a:moveTo>
                  <a:pt x="416" y="32"/>
                </a:moveTo>
                <a:cubicBezTo>
                  <a:pt x="447" y="32"/>
                  <a:pt x="472" y="57"/>
                  <a:pt x="472" y="88"/>
                </a:cubicBezTo>
                <a:cubicBezTo>
                  <a:pt x="472" y="119"/>
                  <a:pt x="447" y="144"/>
                  <a:pt x="416" y="144"/>
                </a:cubicBezTo>
                <a:cubicBezTo>
                  <a:pt x="385" y="144"/>
                  <a:pt x="360" y="119"/>
                  <a:pt x="360" y="88"/>
                </a:cubicBezTo>
                <a:cubicBezTo>
                  <a:pt x="360" y="57"/>
                  <a:pt x="385" y="32"/>
                  <a:pt x="416" y="32"/>
                </a:cubicBezTo>
                <a:close/>
              </a:path>
            </a:pathLst>
          </a:custGeom>
          <a:solidFill>
            <a:srgbClr val="11B0AB"/>
          </a:solidFill>
          <a:ln>
            <a:noFill/>
          </a:ln>
        </p:spPr>
      </p:sp>
      <p:sp>
        <p:nvSpPr>
          <p:cNvPr id="27" name="d5-num"/>
          <p:cNvSpPr txBox="1"/>
          <p:nvPr/>
        </p:nvSpPr>
        <p:spPr>
          <a:xfrm>
            <a:off x="2590800" y="4089400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05</a:t>
            </a:r>
            <a:endParaRPr lang="en-US" sz="850" noProof="1"/>
          </a:p>
        </p:txBody>
      </p:sp>
      <p:sp>
        <p:nvSpPr>
          <p:cNvPr id="28" name="d5-title"/>
          <p:cNvSpPr txBox="1"/>
          <p:nvPr/>
        </p:nvSpPr>
        <p:spPr>
          <a:xfrm>
            <a:off x="609600" y="44704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01E3C"/>
                </a:solidFill>
                <a:latin typeface="MiSans"/>
                <a:ea typeface="MiSans"/>
              </a:rPr>
              <a:t>Social Vulnerability</a:t>
            </a:r>
            <a:endParaRPr lang="en-US" sz="1250" noProof="1"/>
          </a:p>
        </p:txBody>
      </p:sp>
      <p:sp>
        <p:nvSpPr>
          <p:cNvPr id="29" name="d5-desc"/>
          <p:cNvSpPr txBox="1"/>
          <p:nvPr/>
        </p:nvSpPr>
        <p:spPr>
          <a:xfrm>
            <a:off x="609600" y="4775200"/>
            <a:ext cx="2590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Female-to-male vulnerability ratios, elderly demographics, informal settlements.</a:t>
            </a:r>
            <a:endParaRPr lang="en-US" sz="950" noProof="1"/>
          </a:p>
        </p:txBody>
      </p:sp>
      <p:sp>
        <p:nvSpPr>
          <p:cNvPr id="30" name="d6-icon"/>
          <p:cNvSpPr/>
          <p:nvPr>
            <p:extLst>
              <p:ext uri="{F5677B7D-0D2A-4D9B-9A5C-6D8D7D0E5A5D}">
                <pptd:icon encoding="base64url">eyJpY29uTmFtZSI6ImZhczpzZWVkbGluZyJ9</pptd:icon>
              </p:ext>
            </p:extLst>
          </p:nvPr>
        </p:nvSpPr>
        <p:spPr>
          <a:xfrm>
            <a:off x="3556000" y="4064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11B0AB"/>
          </a:solidFill>
          <a:ln>
            <a:noFill/>
          </a:ln>
        </p:spPr>
      </p:sp>
      <p:sp>
        <p:nvSpPr>
          <p:cNvPr id="31" name="d6-num"/>
          <p:cNvSpPr txBox="1"/>
          <p:nvPr/>
        </p:nvSpPr>
        <p:spPr>
          <a:xfrm>
            <a:off x="5334000" y="4089400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06</a:t>
            </a:r>
            <a:endParaRPr lang="en-US" sz="850" noProof="1"/>
          </a:p>
        </p:txBody>
      </p:sp>
      <p:sp>
        <p:nvSpPr>
          <p:cNvPr id="32" name="d6-title"/>
          <p:cNvSpPr txBox="1"/>
          <p:nvPr/>
        </p:nvSpPr>
        <p:spPr>
          <a:xfrm>
            <a:off x="3556000" y="44704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01E3C"/>
                </a:solidFill>
                <a:latin typeface="MiSans"/>
                <a:ea typeface="MiSans"/>
              </a:rPr>
              <a:t>Environmental Impact</a:t>
            </a:r>
            <a:endParaRPr lang="en-US" sz="1250" noProof="1"/>
          </a:p>
        </p:txBody>
      </p:sp>
      <p:sp>
        <p:nvSpPr>
          <p:cNvPr id="33" name="d6-desc"/>
          <p:cNvSpPr txBox="1"/>
          <p:nvPr/>
        </p:nvSpPr>
        <p:spPr>
          <a:xfrm>
            <a:off x="3556000" y="4775200"/>
            <a:ext cx="2387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Soil saturation, moisture absorption limits, river runoff rates.</a:t>
            </a:r>
            <a:endParaRPr lang="en-US" sz="950" noProof="1"/>
          </a:p>
        </p:txBody>
      </p:sp>
      <p:sp>
        <p:nvSpPr>
          <p:cNvPr id="34" name="d7-icon"/>
          <p:cNvSpPr/>
          <p:nvPr>
            <p:extLst>
              <p:ext uri="{F5677B7D-0D2A-4D9B-9A5C-6D8D7D0E5A5D}">
                <pptd:icon encoding="base64url">eyJpY29uTmFtZSI6ImZhczp3aGVhdC1hd24ifQ</pptd:icon>
              </p:ext>
            </p:extLst>
          </p:nvPr>
        </p:nvSpPr>
        <p:spPr>
          <a:xfrm>
            <a:off x="6299200" y="4064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0" y="235"/>
                </a:moveTo>
                <a:cubicBezTo>
                  <a:pt x="86" y="231"/>
                  <a:pt x="94" y="231"/>
                  <a:pt x="100" y="237"/>
                </a:cubicBezTo>
                <a:lnTo>
                  <a:pt x="146" y="283"/>
                </a:lnTo>
                <a:lnTo>
                  <a:pt x="152" y="290"/>
                </a:lnTo>
                <a:cubicBezTo>
                  <a:pt x="172" y="313"/>
                  <a:pt x="178" y="345"/>
                  <a:pt x="171" y="373"/>
                </a:cubicBezTo>
                <a:cubicBezTo>
                  <a:pt x="203" y="366"/>
                  <a:pt x="237" y="374"/>
                  <a:pt x="262" y="399"/>
                </a:cubicBezTo>
                <a:lnTo>
                  <a:pt x="308" y="445"/>
                </a:lnTo>
                <a:cubicBezTo>
                  <a:pt x="314" y="451"/>
                  <a:pt x="314" y="461"/>
                  <a:pt x="308" y="467"/>
                </a:cubicBezTo>
                <a:lnTo>
                  <a:pt x="301" y="475"/>
                </a:lnTo>
                <a:cubicBezTo>
                  <a:pt x="263" y="512"/>
                  <a:pt x="202" y="512"/>
                  <a:pt x="165" y="475"/>
                </a:cubicBezTo>
                <a:lnTo>
                  <a:pt x="134" y="444"/>
                </a:lnTo>
                <a:lnTo>
                  <a:pt x="49" y="529"/>
                </a:lnTo>
                <a:cubicBezTo>
                  <a:pt x="40" y="538"/>
                  <a:pt x="25" y="538"/>
                  <a:pt x="16" y="529"/>
                </a:cubicBezTo>
                <a:cubicBezTo>
                  <a:pt x="6" y="520"/>
                  <a:pt x="6" y="504"/>
                  <a:pt x="16" y="495"/>
                </a:cubicBezTo>
                <a:lnTo>
                  <a:pt x="100" y="410"/>
                </a:lnTo>
                <a:lnTo>
                  <a:pt x="70" y="380"/>
                </a:lnTo>
                <a:cubicBezTo>
                  <a:pt x="32" y="342"/>
                  <a:pt x="32" y="282"/>
                  <a:pt x="70" y="244"/>
                </a:cubicBezTo>
                <a:lnTo>
                  <a:pt x="77" y="237"/>
                </a:lnTo>
                <a:lnTo>
                  <a:pt x="80" y="235"/>
                </a:lnTo>
                <a:close/>
              </a:path>
              <a:path w="576" h="512">
                <a:moveTo>
                  <a:pt x="184" y="131"/>
                </a:moveTo>
                <a:cubicBezTo>
                  <a:pt x="190" y="127"/>
                  <a:pt x="198" y="127"/>
                  <a:pt x="204" y="133"/>
                </a:cubicBezTo>
                <a:lnTo>
                  <a:pt x="250" y="179"/>
                </a:lnTo>
                <a:lnTo>
                  <a:pt x="256" y="185"/>
                </a:lnTo>
                <a:cubicBezTo>
                  <a:pt x="276" y="209"/>
                  <a:pt x="282" y="240"/>
                  <a:pt x="275" y="269"/>
                </a:cubicBezTo>
                <a:cubicBezTo>
                  <a:pt x="307" y="262"/>
                  <a:pt x="341" y="270"/>
                  <a:pt x="366" y="295"/>
                </a:cubicBezTo>
                <a:lnTo>
                  <a:pt x="412" y="341"/>
                </a:lnTo>
                <a:cubicBezTo>
                  <a:pt x="418" y="347"/>
                  <a:pt x="418" y="357"/>
                  <a:pt x="412" y="363"/>
                </a:cubicBezTo>
                <a:lnTo>
                  <a:pt x="405" y="371"/>
                </a:lnTo>
                <a:cubicBezTo>
                  <a:pt x="367" y="408"/>
                  <a:pt x="306" y="408"/>
                  <a:pt x="269" y="371"/>
                </a:cubicBezTo>
                <a:lnTo>
                  <a:pt x="174" y="276"/>
                </a:lnTo>
                <a:cubicBezTo>
                  <a:pt x="136" y="238"/>
                  <a:pt x="136" y="178"/>
                  <a:pt x="174" y="140"/>
                </a:cubicBezTo>
                <a:lnTo>
                  <a:pt x="181" y="133"/>
                </a:lnTo>
                <a:lnTo>
                  <a:pt x="184" y="131"/>
                </a:lnTo>
                <a:close/>
              </a:path>
              <a:path w="576" h="512">
                <a:moveTo>
                  <a:pt x="495" y="15"/>
                </a:moveTo>
                <a:cubicBezTo>
                  <a:pt x="505" y="6"/>
                  <a:pt x="520" y="6"/>
                  <a:pt x="529" y="15"/>
                </a:cubicBezTo>
                <a:cubicBezTo>
                  <a:pt x="538" y="24"/>
                  <a:pt x="539" y="38"/>
                  <a:pt x="531" y="47"/>
                </a:cubicBezTo>
                <a:lnTo>
                  <a:pt x="529" y="49"/>
                </a:lnTo>
                <a:lnTo>
                  <a:pt x="415" y="163"/>
                </a:lnTo>
                <a:cubicBezTo>
                  <a:pt x="422" y="164"/>
                  <a:pt x="430" y="166"/>
                  <a:pt x="437" y="169"/>
                </a:cubicBezTo>
                <a:lnTo>
                  <a:pt x="496" y="111"/>
                </a:lnTo>
                <a:cubicBezTo>
                  <a:pt x="505" y="102"/>
                  <a:pt x="520" y="102"/>
                  <a:pt x="530" y="111"/>
                </a:cubicBezTo>
                <a:cubicBezTo>
                  <a:pt x="538" y="120"/>
                  <a:pt x="539" y="134"/>
                  <a:pt x="531" y="143"/>
                </a:cubicBezTo>
                <a:lnTo>
                  <a:pt x="529" y="145"/>
                </a:lnTo>
                <a:lnTo>
                  <a:pt x="477" y="198"/>
                </a:lnTo>
                <a:lnTo>
                  <a:pt x="516" y="237"/>
                </a:lnTo>
                <a:cubicBezTo>
                  <a:pt x="522" y="243"/>
                  <a:pt x="522" y="253"/>
                  <a:pt x="516" y="259"/>
                </a:cubicBezTo>
                <a:lnTo>
                  <a:pt x="508" y="267"/>
                </a:lnTo>
                <a:cubicBezTo>
                  <a:pt x="471" y="304"/>
                  <a:pt x="410" y="304"/>
                  <a:pt x="373" y="267"/>
                </a:cubicBezTo>
                <a:lnTo>
                  <a:pt x="278" y="172"/>
                </a:lnTo>
                <a:cubicBezTo>
                  <a:pt x="240" y="134"/>
                  <a:pt x="240" y="73"/>
                  <a:pt x="278" y="36"/>
                </a:cubicBezTo>
                <a:lnTo>
                  <a:pt x="285" y="29"/>
                </a:lnTo>
                <a:lnTo>
                  <a:pt x="288" y="27"/>
                </a:lnTo>
                <a:cubicBezTo>
                  <a:pt x="294" y="22"/>
                  <a:pt x="302" y="23"/>
                  <a:pt x="308" y="29"/>
                </a:cubicBezTo>
                <a:lnTo>
                  <a:pt x="347" y="68"/>
                </a:lnTo>
                <a:lnTo>
                  <a:pt x="399" y="15"/>
                </a:lnTo>
                <a:cubicBezTo>
                  <a:pt x="409" y="6"/>
                  <a:pt x="424" y="6"/>
                  <a:pt x="433" y="15"/>
                </a:cubicBezTo>
                <a:cubicBezTo>
                  <a:pt x="442" y="24"/>
                  <a:pt x="443" y="38"/>
                  <a:pt x="435" y="47"/>
                </a:cubicBezTo>
                <a:lnTo>
                  <a:pt x="433" y="49"/>
                </a:lnTo>
                <a:lnTo>
                  <a:pt x="375" y="107"/>
                </a:lnTo>
                <a:cubicBezTo>
                  <a:pt x="378" y="114"/>
                  <a:pt x="380" y="122"/>
                  <a:pt x="381" y="129"/>
                </a:cubicBezTo>
                <a:lnTo>
                  <a:pt x="495" y="15"/>
                </a:lnTo>
                <a:close/>
              </a:path>
            </a:pathLst>
          </a:custGeom>
          <a:solidFill>
            <a:srgbClr val="11B0AB"/>
          </a:solidFill>
          <a:ln>
            <a:noFill/>
          </a:ln>
        </p:spPr>
      </p:sp>
      <p:sp>
        <p:nvSpPr>
          <p:cNvPr id="35" name="d7-num"/>
          <p:cNvSpPr txBox="1"/>
          <p:nvPr/>
        </p:nvSpPr>
        <p:spPr>
          <a:xfrm>
            <a:off x="8077200" y="4089400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07</a:t>
            </a:r>
            <a:endParaRPr lang="en-US" sz="850" noProof="1"/>
          </a:p>
        </p:txBody>
      </p:sp>
      <p:sp>
        <p:nvSpPr>
          <p:cNvPr id="36" name="d7-title"/>
          <p:cNvSpPr txBox="1"/>
          <p:nvPr/>
        </p:nvSpPr>
        <p:spPr>
          <a:xfrm>
            <a:off x="6299200" y="4470400"/>
            <a:ext cx="238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01E3C"/>
                </a:solidFill>
                <a:latin typeface="MiSans"/>
                <a:ea typeface="MiSans"/>
              </a:rPr>
              <a:t>Producers and Food</a:t>
            </a:r>
            <a:endParaRPr lang="en-US" sz="1250" noProof="1"/>
          </a:p>
        </p:txBody>
      </p:sp>
      <p:sp>
        <p:nvSpPr>
          <p:cNvPr id="37" name="d7-desc"/>
          <p:cNvSpPr txBox="1"/>
          <p:nvPr/>
        </p:nvSpPr>
        <p:spPr>
          <a:xfrm>
            <a:off x="6299200" y="4775200"/>
            <a:ext cx="2387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Agricultural supply-chain choke points, wholesale market disruption.</a:t>
            </a:r>
            <a:endParaRPr lang="en-US" sz="950" noProof="1"/>
          </a:p>
        </p:txBody>
      </p:sp>
      <p:sp>
        <p:nvSpPr>
          <p:cNvPr id="38" name="d8-icon"/>
          <p:cNvSpPr/>
          <p:nvPr>
            <p:extLst>
              <p:ext uri="{F5677B7D-0D2A-4D9B-9A5C-6D8D7D0E5A5D}">
                <pptd:icon encoding="base64url">eyJpY29uTmFtZSI6ImZhczphbmNob3IifQ</pptd:icon>
              </p:ext>
            </p:extLst>
          </p:nvPr>
        </p:nvSpPr>
        <p:spPr>
          <a:xfrm>
            <a:off x="9042400" y="4064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64"/>
                </a:moveTo>
                <a:cubicBezTo>
                  <a:pt x="270" y="64"/>
                  <a:pt x="256" y="78"/>
                  <a:pt x="256" y="96"/>
                </a:cubicBezTo>
                <a:cubicBezTo>
                  <a:pt x="256" y="114"/>
                  <a:pt x="270" y="128"/>
                  <a:pt x="288" y="128"/>
                </a:cubicBezTo>
                <a:cubicBezTo>
                  <a:pt x="306" y="128"/>
                  <a:pt x="320" y="114"/>
                  <a:pt x="320" y="96"/>
                </a:cubicBezTo>
                <a:cubicBezTo>
                  <a:pt x="320" y="78"/>
                  <a:pt x="306" y="64"/>
                  <a:pt x="288" y="64"/>
                </a:cubicBezTo>
                <a:close/>
                <a:moveTo>
                  <a:pt x="192" y="96"/>
                </a:moveTo>
                <a:cubicBezTo>
                  <a:pt x="192" y="43"/>
                  <a:pt x="235" y="0"/>
                  <a:pt x="288" y="0"/>
                </a:cubicBezTo>
                <a:cubicBezTo>
                  <a:pt x="341" y="0"/>
                  <a:pt x="384" y="43"/>
                  <a:pt x="384" y="96"/>
                </a:cubicBezTo>
                <a:cubicBezTo>
                  <a:pt x="384" y="138"/>
                  <a:pt x="357" y="173"/>
                  <a:pt x="320" y="187"/>
                </a:cubicBezTo>
                <a:lnTo>
                  <a:pt x="320" y="444"/>
                </a:lnTo>
                <a:cubicBezTo>
                  <a:pt x="383" y="430"/>
                  <a:pt x="430" y="375"/>
                  <a:pt x="432" y="308"/>
                </a:cubicBezTo>
                <a:lnTo>
                  <a:pt x="416" y="322"/>
                </a:lnTo>
                <a:cubicBezTo>
                  <a:pt x="406" y="331"/>
                  <a:pt x="391" y="330"/>
                  <a:pt x="382" y="320"/>
                </a:cubicBezTo>
                <a:cubicBezTo>
                  <a:pt x="373" y="310"/>
                  <a:pt x="374" y="295"/>
                  <a:pt x="384" y="286"/>
                </a:cubicBezTo>
                <a:lnTo>
                  <a:pt x="448" y="230"/>
                </a:lnTo>
                <a:cubicBezTo>
                  <a:pt x="457" y="222"/>
                  <a:pt x="471" y="222"/>
                  <a:pt x="480" y="230"/>
                </a:cubicBezTo>
                <a:lnTo>
                  <a:pt x="544" y="286"/>
                </a:lnTo>
                <a:cubicBezTo>
                  <a:pt x="554" y="295"/>
                  <a:pt x="555" y="310"/>
                  <a:pt x="546" y="320"/>
                </a:cubicBezTo>
                <a:cubicBezTo>
                  <a:pt x="537" y="330"/>
                  <a:pt x="522" y="331"/>
                  <a:pt x="512" y="322"/>
                </a:cubicBezTo>
                <a:lnTo>
                  <a:pt x="496" y="308"/>
                </a:lnTo>
                <a:cubicBezTo>
                  <a:pt x="494" y="421"/>
                  <a:pt x="402" y="512"/>
                  <a:pt x="288" y="512"/>
                </a:cubicBezTo>
                <a:cubicBezTo>
                  <a:pt x="174" y="512"/>
                  <a:pt x="82" y="421"/>
                  <a:pt x="80" y="308"/>
                </a:cubicBezTo>
                <a:lnTo>
                  <a:pt x="64" y="322"/>
                </a:lnTo>
                <a:cubicBezTo>
                  <a:pt x="54" y="331"/>
                  <a:pt x="39" y="330"/>
                  <a:pt x="30" y="320"/>
                </a:cubicBezTo>
                <a:cubicBezTo>
                  <a:pt x="21" y="310"/>
                  <a:pt x="22" y="295"/>
                  <a:pt x="32" y="286"/>
                </a:cubicBezTo>
                <a:lnTo>
                  <a:pt x="96" y="230"/>
                </a:lnTo>
                <a:cubicBezTo>
                  <a:pt x="105" y="222"/>
                  <a:pt x="119" y="222"/>
                  <a:pt x="128" y="230"/>
                </a:cubicBezTo>
                <a:lnTo>
                  <a:pt x="192" y="286"/>
                </a:lnTo>
                <a:cubicBezTo>
                  <a:pt x="202" y="295"/>
                  <a:pt x="203" y="310"/>
                  <a:pt x="194" y="320"/>
                </a:cubicBezTo>
                <a:cubicBezTo>
                  <a:pt x="185" y="330"/>
                  <a:pt x="170" y="331"/>
                  <a:pt x="160" y="322"/>
                </a:cubicBezTo>
                <a:lnTo>
                  <a:pt x="144" y="308"/>
                </a:lnTo>
                <a:cubicBezTo>
                  <a:pt x="146" y="375"/>
                  <a:pt x="193" y="430"/>
                  <a:pt x="256" y="445"/>
                </a:cubicBezTo>
                <a:lnTo>
                  <a:pt x="256" y="187"/>
                </a:lnTo>
                <a:cubicBezTo>
                  <a:pt x="219" y="173"/>
                  <a:pt x="192" y="138"/>
                  <a:pt x="192" y="96"/>
                </a:cubicBezTo>
                <a:close/>
              </a:path>
            </a:pathLst>
          </a:custGeom>
          <a:solidFill>
            <a:srgbClr val="11B0AB"/>
          </a:solidFill>
          <a:ln>
            <a:noFill/>
          </a:ln>
        </p:spPr>
      </p:sp>
      <p:sp>
        <p:nvSpPr>
          <p:cNvPr id="39" name="d8-num"/>
          <p:cNvSpPr txBox="1"/>
          <p:nvPr/>
        </p:nvSpPr>
        <p:spPr>
          <a:xfrm>
            <a:off x="10820400" y="4089400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08</a:t>
            </a:r>
            <a:endParaRPr lang="en-US" sz="850" noProof="1"/>
          </a:p>
        </p:txBody>
      </p:sp>
      <p:sp>
        <p:nvSpPr>
          <p:cNvPr id="40" name="d8-title"/>
          <p:cNvSpPr txBox="1"/>
          <p:nvPr/>
        </p:nvSpPr>
        <p:spPr>
          <a:xfrm>
            <a:off x="9042400" y="4470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01E3C"/>
                </a:solidFill>
                <a:latin typeface="MiSans"/>
                <a:ea typeface="MiSans"/>
              </a:rPr>
              <a:t>Economic Disruption</a:t>
            </a:r>
            <a:endParaRPr lang="en-US" sz="1250" noProof="1"/>
          </a:p>
        </p:txBody>
      </p:sp>
      <p:sp>
        <p:nvSpPr>
          <p:cNvPr id="41" name="d8-desc"/>
          <p:cNvSpPr txBox="1"/>
          <p:nvPr/>
        </p:nvSpPr>
        <p:spPr>
          <a:xfrm>
            <a:off x="9042400" y="47752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5B6B7E"/>
                </a:solidFill>
                <a:latin typeface="MiSans"/>
                <a:ea typeface="MiSans"/>
              </a:rPr>
              <a:t>Commercial district downtime, Karachi port logistics accessibility.</a:t>
            </a:r>
            <a:endParaRPr lang="en-US" sz="950" noProof="1"/>
          </a:p>
        </p:txBody>
      </p:sp>
      <p:sp>
        <p:nvSpPr>
          <p:cNvPr id="42" name="footer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43" name="footer-left"/>
          <p:cNvSpPr txBox="1"/>
          <p:nvPr/>
        </p:nvSpPr>
        <p:spPr>
          <a:xfrm>
            <a:off x="609600" y="66167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50" kern="0">
                <a:solidFill>
                  <a:srgbClr val="8494A3"/>
                </a:solidFill>
                <a:latin typeface="MiSans"/>
                <a:ea typeface="MiSans"/>
              </a:rPr>
              <a:t>CLIMATESHIELD 360 — HACKINSIGHT 2026 · CLIMATE TRACK</a:t>
            </a:r>
            <a:endParaRPr lang="en-US" sz="800" noProof="1"/>
          </a:p>
        </p:txBody>
      </p:sp>
      <p:sp>
        <p:nvSpPr>
          <p:cNvPr id="44" name="footer-page"/>
          <p:cNvSpPr txBox="1"/>
          <p:nvPr/>
        </p:nvSpPr>
        <p:spPr>
          <a:xfrm>
            <a:off x="10160000" y="6616700"/>
            <a:ext cx="1422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06 / 10</a:t>
            </a:r>
            <a:endParaRPr lang="en-US" sz="8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11B0AB"/>
                </a:solidFill>
                <a:latin typeface="MiSans"/>
                <a:ea typeface="MiSans"/>
              </a:rPr>
              <a:t>06 · DECISION LAYER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52238"/>
                </a:solidFill>
                <a:latin typeface="Archivo Black"/>
                <a:ea typeface="Archivo Black"/>
              </a:rPr>
              <a:t>Hazard probabilities become costed, assignable interventions</a:t>
            </a:r>
            <a:endParaRPr lang="en-US" sz="2500" noProof="1"/>
          </a:p>
        </p:txBody>
      </p:sp>
      <p:sp>
        <p:nvSpPr>
          <p:cNvPr id="4" name="tick"/>
          <p:cNvSpPr/>
          <p:nvPr/>
        </p:nvSpPr>
        <p:spPr>
          <a:xfrm>
            <a:off x="609600" y="1219200"/>
            <a:ext cx="4572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609600" y="1320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B6B7E"/>
                </a:solidFill>
                <a:latin typeface="MiSans"/>
                <a:ea typeface="MiSans"/>
              </a:rPr>
              <a:t>A forecast only matters when incident commanders know what to do next. The action planner converts ML hazard probabilities into a prioritized decision matrix — each intervention quantified before deployment.</a:t>
            </a:r>
            <a:endParaRPr lang="en-US" sz="1100" noProof="1"/>
          </a:p>
        </p:txBody>
      </p:sp>
      <p:graphicFrame>
        <p:nvGraphicFramePr>
          <p:cNvPr id="6" name="action-table"/>
          <p:cNvGraphicFramePr>
            <a:graphicFrameLocks noGrp="1"/>
          </p:cNvGraphicFramePr>
          <p:nvPr/>
        </p:nvGraphicFramePr>
        <p:xfrm>
          <a:off x="609600" y="1981200"/>
          <a:ext cx="10972800" cy="2997200"/>
        </p:xfrm>
        <a:graphic>
          <a:graphicData uri="http://schemas.openxmlformats.org/drawingml/2006/table">
            <a:tbl>
              <a:tblPr/>
              <a:tblGrid>
                <a:gridCol w="2962656"/>
                <a:gridCol w="3072384"/>
                <a:gridCol w="2852928"/>
                <a:gridCol w="2084832"/>
              </a:tblGrid>
              <a:tr h="4495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50" noProof="1" b="1" spc="120" kern="0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PRIORITY ACTION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1B0A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50" noProof="1" b="1" spc="120" kern="0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TRIGGER CONDITION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1B0A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50" noProof="1" b="1" spc="120" kern="0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DEPLOYMENT ZONE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1B0A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50" noProof="1" b="1" spc="120" kern="0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OWNING AGENCY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1B0AB"/>
                      </a:solidFill>
                    </a:lnB>
                    <a:noFill/>
                  </a:tcPr>
                </a:tc>
              </a:tr>
              <a:tr h="6369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01E3C"/>
                          </a:solidFill>
                          <a:latin typeface="Times New Roman"/>
                          <a:ea typeface="Times New Roman"/>
                        </a:rPr>
                        <a:t>High-capacity dewatering pumps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Culvert bottleneck forecast — before inundation peaks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South and Keamari drainage choke points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52238"/>
                          </a:solidFill>
                          <a:latin typeface="Times New Roman"/>
                          <a:ea typeface="Times New Roman"/>
                        </a:rPr>
                        <a:t>KMC · PDMA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</a:tr>
              <a:tr h="6369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01E3C"/>
                          </a:solidFill>
                          <a:latin typeface="Times New Roman"/>
                          <a:ea typeface="Times New Roman"/>
                        </a:rPr>
                        <a:t>Mobile medical heat units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Heat index crosses 40 °C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Central and East transit hubs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52238"/>
                          </a:solidFill>
                          <a:latin typeface="Times New Roman"/>
                          <a:ea typeface="Times New Roman"/>
                        </a:rPr>
                        <a:t>Rescue 1122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</a:tr>
              <a:tr h="6369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01E3C"/>
                          </a:solidFill>
                          <a:latin typeface="Times New Roman"/>
                          <a:ea typeface="Times New Roman"/>
                        </a:rPr>
                        <a:t>Pre-emptive substation isolation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Flood polygons overlap K-Electric transformers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Citywide power corridors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52238"/>
                          </a:solidFill>
                          <a:latin typeface="Times New Roman"/>
                          <a:ea typeface="Times New Roman"/>
                        </a:rPr>
                        <a:t>K-Electric · PDMA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</a:tr>
              <a:tr h="636905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01E3C"/>
                          </a:solidFill>
                          <a:latin typeface="Times New Roman"/>
                          <a:ea typeface="Times New Roman"/>
                        </a:rPr>
                        <a:t>Designated relief-center routing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Active flood polygons detected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B6B7E"/>
                          </a:solidFill>
                          <a:latin typeface="Times New Roman"/>
                          <a:ea typeface="Times New Roman"/>
                        </a:rPr>
                        <a:t>Schools and shelters outside flood zones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52238"/>
                          </a:solidFill>
                          <a:latin typeface="Times New Roman"/>
                          <a:ea typeface="Times New Roman"/>
                        </a:rPr>
                        <a:t>PDMA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CE4E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quantify-label"/>
          <p:cNvSpPr txBox="1"/>
          <p:nvPr/>
        </p:nvSpPr>
        <p:spPr>
          <a:xfrm>
            <a:off x="609600" y="5283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11B0AB"/>
                </a:solidFill>
                <a:latin typeface="MiSans"/>
                <a:ea typeface="MiSans"/>
              </a:rPr>
              <a:t>EVERY ACTION PLAN QUANTIFIES</a:t>
            </a:r>
            <a:endParaRPr lang="en-US" sz="1050" noProof="1"/>
          </a:p>
        </p:txBody>
      </p:sp>
      <p:sp>
        <p:nvSpPr>
          <p:cNvPr id="8" name="quantify-strip"/>
          <p:cNvSpPr txBox="1"/>
          <p:nvPr/>
        </p:nvSpPr>
        <p:spPr>
          <a:xfrm>
            <a:off x="609600" y="55626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0C7C78"/>
                </a:solidFill>
                <a:latin typeface="JetBrains Mono"/>
                <a:ea typeface="JetBrains Mono"/>
              </a:rPr>
              <a:t>estimated cost      ·      required personnel      ·      response window      ·      target agency</a:t>
            </a:r>
            <a:endParaRPr lang="en-US" sz="1000" noProof="1"/>
          </a:p>
        </p:txBody>
      </p:sp>
      <p:sp>
        <p:nvSpPr>
          <p:cNvPr id="9" name="quantify-note"/>
          <p:cNvSpPr txBox="1"/>
          <p:nvPr/>
        </p:nvSpPr>
        <p:spPr>
          <a:xfrm>
            <a:off x="609600" y="58928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8494A3"/>
                </a:solidFill>
                <a:latin typeface="MiSans"/>
                <a:ea typeface="MiSans"/>
              </a:rPr>
              <a:t>Plans are routed to the responsible agency, with the deployment window derived from the forecast horizon.</a:t>
            </a:r>
            <a:endParaRPr lang="en-US" sz="950" noProof="1"/>
          </a:p>
        </p:txBody>
      </p:sp>
      <p:sp>
        <p:nvSpPr>
          <p:cNvPr id="10" name="footer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11" name="footer-left"/>
          <p:cNvSpPr txBox="1"/>
          <p:nvPr/>
        </p:nvSpPr>
        <p:spPr>
          <a:xfrm>
            <a:off x="609600" y="66167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50" kern="0">
                <a:solidFill>
                  <a:srgbClr val="8494A3"/>
                </a:solidFill>
                <a:latin typeface="MiSans"/>
                <a:ea typeface="MiSans"/>
              </a:rPr>
              <a:t>CLIMATESHIELD 360 — HACKINSIGHT 2026 · CLIMATE TRACK</a:t>
            </a:r>
            <a:endParaRPr lang="en-US" sz="800" noProof="1"/>
          </a:p>
        </p:txBody>
      </p:sp>
      <p:sp>
        <p:nvSpPr>
          <p:cNvPr id="12" name="footer-page"/>
          <p:cNvSpPr txBox="1"/>
          <p:nvPr/>
        </p:nvSpPr>
        <p:spPr>
          <a:xfrm>
            <a:off x="10160000" y="6616700"/>
            <a:ext cx="1422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07 / 10</a:t>
            </a:r>
            <a:endParaRPr lang="en-US" sz="8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11B0AB"/>
                </a:solidFill>
                <a:latin typeface="MiSans"/>
                <a:ea typeface="MiSans"/>
              </a:rPr>
              <a:t>07 · TRUST AND TRANSPARENCY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52238"/>
                </a:solidFill>
                <a:latin typeface="Archivo Black"/>
                <a:ea typeface="Archivo Black"/>
              </a:rPr>
              <a:t>Grounded AI, audited data, open science</a:t>
            </a:r>
            <a:endParaRPr lang="en-US" sz="2500" noProof="1"/>
          </a:p>
        </p:txBody>
      </p:sp>
      <p:sp>
        <p:nvSpPr>
          <p:cNvPr id="4" name="tick"/>
          <p:cNvSpPr/>
          <p:nvPr/>
        </p:nvSpPr>
        <p:spPr>
          <a:xfrm>
            <a:off x="609600" y="1219200"/>
            <a:ext cx="4572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5" name="col-sep-1"/>
          <p:cNvSpPr/>
          <p:nvPr/>
        </p:nvSpPr>
        <p:spPr>
          <a:xfrm>
            <a:off x="4165600" y="1778000"/>
            <a:ext cx="12700" cy="40640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6" name="col-sep-2"/>
          <p:cNvSpPr/>
          <p:nvPr/>
        </p:nvSpPr>
        <p:spPr>
          <a:xfrm>
            <a:off x="8026400" y="1778000"/>
            <a:ext cx="12700" cy="40640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7" name="c1-icon"/>
          <p:cNvSpPr/>
          <p:nvPr>
            <p:extLst>
              <p:ext uri="{F5677B7D-0D2A-4D9B-9A5C-6D8D7D0E5A5D}">
                <pptd:icon encoding="base64url">eyJpY29uTmFtZSI6ImZhczpzaGllbGQtaGFsdmVkIn0</pptd:icon>
              </p:ext>
            </p:extLst>
          </p:nvPr>
        </p:nvSpPr>
        <p:spPr>
          <a:xfrm>
            <a:off x="609600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11B0AB"/>
          </a:solidFill>
          <a:ln>
            <a:noFill/>
          </a:ln>
        </p:spPr>
      </p:sp>
      <p:sp>
        <p:nvSpPr>
          <p:cNvPr id="8" name="c1-title"/>
          <p:cNvSpPr txBox="1"/>
          <p:nvPr/>
        </p:nvSpPr>
        <p:spPr>
          <a:xfrm>
            <a:off x="609600" y="2413000"/>
            <a:ext cx="325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01E3C"/>
                </a:solidFill>
                <a:latin typeface="MiSans"/>
                <a:ea typeface="MiSans"/>
              </a:rPr>
              <a:t>Zero-hallucination RAG</a:t>
            </a:r>
            <a:endParaRPr lang="en-US" sz="1400" noProof="1"/>
          </a:p>
        </p:txBody>
      </p:sp>
      <p:sp>
        <p:nvSpPr>
          <p:cNvPr id="9" name="c1-body"/>
          <p:cNvSpPr txBox="1"/>
          <p:nvPr/>
        </p:nvSpPr>
        <p:spPr>
          <a:xfrm>
            <a:off x="609600" y="2768600"/>
            <a:ext cx="32512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000" noProof="1">
                <a:solidFill>
                  <a:srgbClr val="5B6B7E"/>
                </a:solidFill>
                <a:latin typeface="MiSans"/>
                <a:ea typeface="MiSans"/>
              </a:rPr>
              <a:t>The assistant answers only from the curated catalog of NDMA, PMD, and provincial flood contingency plans. Every response carries document titles, catalog IDs, and row-level citations — when the data has no answer, it refuses to guess.</a:t>
            </a:r>
            <a:endParaRPr lang="en-US" sz="1000" noProof="1"/>
          </a:p>
        </p:txBody>
      </p:sp>
      <p:sp>
        <p:nvSpPr>
          <p:cNvPr id="10" name="c1-foot"/>
          <p:cNvSpPr txBox="1"/>
          <p:nvPr/>
        </p:nvSpPr>
        <p:spPr>
          <a:xfrm>
            <a:off x="609600" y="5029200"/>
            <a:ext cx="325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0C7C78"/>
                </a:solidFill>
                <a:latin typeface="JetBrains Mono"/>
                <a:ea typeface="JetBrains Mono"/>
              </a:rPr>
              <a:t>100% provenance and row-level citations</a:t>
            </a:r>
            <a:endParaRPr lang="en-US" sz="900" noProof="1"/>
          </a:p>
        </p:txBody>
      </p:sp>
      <p:sp>
        <p:nvSpPr>
          <p:cNvPr id="11" name="c2-icon"/>
          <p:cNvSpPr/>
          <p:nvPr>
            <p:extLst>
              <p:ext uri="{F5677B7D-0D2A-4D9B-9A5C-6D8D7D0E5A5D}">
                <pptd:icon encoding="base64url">eyJpY29uTmFtZSI6ImZhczpjbGlwYm9hcmQtY2hlY2sifQ</pptd:icon>
              </p:ext>
            </p:extLst>
          </p:nvPr>
        </p:nvSpPr>
        <p:spPr>
          <a:xfrm>
            <a:off x="4470400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56" y="0"/>
                </a:moveTo>
                <a:cubicBezTo>
                  <a:pt x="280" y="0"/>
                  <a:pt x="300" y="13"/>
                  <a:pt x="311" y="32"/>
                </a:cubicBezTo>
                <a:lnTo>
                  <a:pt x="320" y="32"/>
                </a:lnTo>
                <a:cubicBezTo>
                  <a:pt x="355" y="32"/>
                  <a:pt x="384" y="61"/>
                  <a:pt x="384" y="96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73" y="32"/>
                </a:lnTo>
                <a:cubicBezTo>
                  <a:pt x="84" y="13"/>
                  <a:pt x="104" y="0"/>
                  <a:pt x="128" y="0"/>
                </a:cubicBezTo>
                <a:lnTo>
                  <a:pt x="256" y="0"/>
                </a:lnTo>
                <a:close/>
                <a:moveTo>
                  <a:pt x="283" y="213"/>
                </a:moveTo>
                <a:cubicBezTo>
                  <a:pt x="272" y="205"/>
                  <a:pt x="257" y="207"/>
                  <a:pt x="249" y="218"/>
                </a:cubicBezTo>
                <a:lnTo>
                  <a:pt x="164" y="336"/>
                </a:lnTo>
                <a:lnTo>
                  <a:pt x="137" y="308"/>
                </a:lnTo>
                <a:cubicBezTo>
                  <a:pt x="128" y="299"/>
                  <a:pt x="113" y="298"/>
                  <a:pt x="103" y="308"/>
                </a:cubicBezTo>
                <a:cubicBezTo>
                  <a:pt x="94" y="317"/>
                  <a:pt x="94" y="332"/>
                  <a:pt x="103" y="342"/>
                </a:cubicBezTo>
                <a:lnTo>
                  <a:pt x="149" y="390"/>
                </a:lnTo>
                <a:cubicBezTo>
                  <a:pt x="154" y="395"/>
                  <a:pt x="161" y="397"/>
                  <a:pt x="168" y="397"/>
                </a:cubicBezTo>
                <a:cubicBezTo>
                  <a:pt x="175" y="396"/>
                  <a:pt x="182" y="393"/>
                  <a:pt x="186" y="387"/>
                </a:cubicBezTo>
                <a:lnTo>
                  <a:pt x="288" y="246"/>
                </a:lnTo>
                <a:cubicBezTo>
                  <a:pt x="296" y="235"/>
                  <a:pt x="294" y="220"/>
                  <a:pt x="283" y="213"/>
                </a:cubicBezTo>
                <a:close/>
                <a:moveTo>
                  <a:pt x="136" y="64"/>
                </a:moveTo>
                <a:cubicBezTo>
                  <a:pt x="123" y="64"/>
                  <a:pt x="112" y="75"/>
                  <a:pt x="112" y="88"/>
                </a:cubicBezTo>
                <a:cubicBezTo>
                  <a:pt x="112" y="101"/>
                  <a:pt x="123" y="112"/>
                  <a:pt x="136" y="112"/>
                </a:cubicBezTo>
                <a:lnTo>
                  <a:pt x="248" y="112"/>
                </a:lnTo>
                <a:cubicBezTo>
                  <a:pt x="261" y="112"/>
                  <a:pt x="272" y="101"/>
                  <a:pt x="272" y="88"/>
                </a:cubicBezTo>
                <a:cubicBezTo>
                  <a:pt x="272" y="75"/>
                  <a:pt x="261" y="64"/>
                  <a:pt x="248" y="64"/>
                </a:cubicBezTo>
                <a:lnTo>
                  <a:pt x="136" y="64"/>
                </a:lnTo>
                <a:close/>
              </a:path>
            </a:pathLst>
          </a:custGeom>
          <a:solidFill>
            <a:srgbClr val="11B0AB"/>
          </a:solidFill>
          <a:ln>
            <a:noFill/>
          </a:ln>
        </p:spPr>
      </p:sp>
      <p:sp>
        <p:nvSpPr>
          <p:cNvPr id="12" name="c2-title"/>
          <p:cNvSpPr txBox="1"/>
          <p:nvPr/>
        </p:nvSpPr>
        <p:spPr>
          <a:xfrm>
            <a:off x="4470400" y="2413000"/>
            <a:ext cx="325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01E3C"/>
                </a:solidFill>
                <a:latin typeface="MiSans"/>
                <a:ea typeface="MiSans"/>
              </a:rPr>
              <a:t>Auditable by default</a:t>
            </a:r>
            <a:endParaRPr lang="en-US" sz="1400" noProof="1"/>
          </a:p>
        </p:txBody>
      </p:sp>
      <p:sp>
        <p:nvSpPr>
          <p:cNvPr id="13" name="c2-body"/>
          <p:cNvSpPr txBox="1"/>
          <p:nvPr/>
        </p:nvSpPr>
        <p:spPr>
          <a:xfrm>
            <a:off x="4470400" y="2768600"/>
            <a:ext cx="32512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000" noProof="1">
                <a:solidFill>
                  <a:srgbClr val="5B6B7E"/>
                </a:solidFill>
                <a:latin typeface="MiSans"/>
                <a:ea typeface="MiSans"/>
              </a:rPr>
              <a:t>A publication-standard, two-page Dataset Declaration PDF ships inside the dashboard. A live pipeline freshness monitor shows minutes since the last successful run, with evidence for every automated ingestion.</a:t>
            </a:r>
            <a:endParaRPr lang="en-US" sz="1000" noProof="1"/>
          </a:p>
        </p:txBody>
      </p:sp>
      <p:sp>
        <p:nvSpPr>
          <p:cNvPr id="14" name="c2-foot"/>
          <p:cNvSpPr txBox="1"/>
          <p:nvPr/>
        </p:nvSpPr>
        <p:spPr>
          <a:xfrm>
            <a:off x="4470400" y="5029200"/>
            <a:ext cx="325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0C7C78"/>
                </a:solidFill>
                <a:latin typeface="JetBrains Mono"/>
                <a:ea typeface="JetBrains Mono"/>
              </a:rPr>
              <a:t>dataset declaration PDF · live freshness monitor</a:t>
            </a:r>
            <a:endParaRPr lang="en-US" sz="900" noProof="1"/>
          </a:p>
        </p:txBody>
      </p:sp>
      <p:sp>
        <p:nvSpPr>
          <p:cNvPr id="15" name="c3-icon"/>
          <p:cNvSpPr/>
          <p:nvPr>
            <p:extLst>
              <p:ext uri="{F5677B7D-0D2A-4D9B-9A5C-6D8D7D0E5A5D}">
                <pptd:icon encoding="base64url">eyJpY29uTmFtZSI6ImZhczpjb2RlLWJyYW5jaCJ9</pptd:icon>
              </p:ext>
            </p:extLst>
          </p:nvPr>
        </p:nvSpPr>
        <p:spPr>
          <a:xfrm>
            <a:off x="8331200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60" y="80"/>
                </a:moveTo>
                <a:cubicBezTo>
                  <a:pt x="160" y="113"/>
                  <a:pt x="140" y="141"/>
                  <a:pt x="112" y="153"/>
                </a:cubicBezTo>
                <a:lnTo>
                  <a:pt x="112" y="224"/>
                </a:lnTo>
                <a:lnTo>
                  <a:pt x="288" y="224"/>
                </a:lnTo>
                <a:cubicBezTo>
                  <a:pt x="315" y="224"/>
                  <a:pt x="336" y="203"/>
                  <a:pt x="336" y="176"/>
                </a:cubicBezTo>
                <a:lnTo>
                  <a:pt x="336" y="153"/>
                </a:lnTo>
                <a:cubicBezTo>
                  <a:pt x="308" y="141"/>
                  <a:pt x="288" y="113"/>
                  <a:pt x="288" y="80"/>
                </a:cubicBezTo>
                <a:cubicBezTo>
                  <a:pt x="288" y="36"/>
                  <a:pt x="324" y="0"/>
                  <a:pt x="368" y="0"/>
                </a:cubicBezTo>
                <a:cubicBezTo>
                  <a:pt x="412" y="0"/>
                  <a:pt x="448" y="36"/>
                  <a:pt x="448" y="80"/>
                </a:cubicBezTo>
                <a:cubicBezTo>
                  <a:pt x="448" y="113"/>
                  <a:pt x="428" y="141"/>
                  <a:pt x="400" y="153"/>
                </a:cubicBezTo>
                <a:lnTo>
                  <a:pt x="400" y="176"/>
                </a:lnTo>
                <a:cubicBezTo>
                  <a:pt x="400" y="238"/>
                  <a:pt x="350" y="288"/>
                  <a:pt x="288" y="288"/>
                </a:cubicBezTo>
                <a:lnTo>
                  <a:pt x="112" y="288"/>
                </a:lnTo>
                <a:lnTo>
                  <a:pt x="112" y="359"/>
                </a:lnTo>
                <a:cubicBezTo>
                  <a:pt x="140" y="371"/>
                  <a:pt x="160" y="399"/>
                  <a:pt x="160" y="432"/>
                </a:cubicBezTo>
                <a:cubicBezTo>
                  <a:pt x="160" y="476"/>
                  <a:pt x="124" y="512"/>
                  <a:pt x="80" y="512"/>
                </a:cubicBezTo>
                <a:cubicBezTo>
                  <a:pt x="36" y="512"/>
                  <a:pt x="0" y="476"/>
                  <a:pt x="0" y="432"/>
                </a:cubicBezTo>
                <a:cubicBezTo>
                  <a:pt x="0" y="399"/>
                  <a:pt x="20" y="371"/>
                  <a:pt x="48" y="359"/>
                </a:cubicBezTo>
                <a:lnTo>
                  <a:pt x="48" y="153"/>
                </a:lnTo>
                <a:cubicBezTo>
                  <a:pt x="20" y="141"/>
                  <a:pt x="0" y="113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124" y="0"/>
                  <a:pt x="160" y="36"/>
                  <a:pt x="160" y="80"/>
                </a:cubicBezTo>
                <a:close/>
                <a:moveTo>
                  <a:pt x="80" y="104"/>
                </a:moveTo>
                <a:cubicBezTo>
                  <a:pt x="93" y="104"/>
                  <a:pt x="104" y="93"/>
                  <a:pt x="104" y="80"/>
                </a:cubicBezTo>
                <a:cubicBezTo>
                  <a:pt x="104" y="67"/>
                  <a:pt x="93" y="56"/>
                  <a:pt x="80" y="56"/>
                </a:cubicBezTo>
                <a:cubicBezTo>
                  <a:pt x="67" y="56"/>
                  <a:pt x="56" y="67"/>
                  <a:pt x="56" y="80"/>
                </a:cubicBezTo>
                <a:cubicBezTo>
                  <a:pt x="56" y="93"/>
                  <a:pt x="67" y="104"/>
                  <a:pt x="80" y="104"/>
                </a:cubicBezTo>
                <a:close/>
                <a:moveTo>
                  <a:pt x="392" y="80"/>
                </a:moveTo>
                <a:cubicBezTo>
                  <a:pt x="392" y="67"/>
                  <a:pt x="381" y="56"/>
                  <a:pt x="368" y="56"/>
                </a:cubicBezTo>
                <a:cubicBezTo>
                  <a:pt x="355" y="56"/>
                  <a:pt x="344" y="67"/>
                  <a:pt x="344" y="80"/>
                </a:cubicBezTo>
                <a:cubicBezTo>
                  <a:pt x="344" y="93"/>
                  <a:pt x="355" y="104"/>
                  <a:pt x="368" y="104"/>
                </a:cubicBezTo>
                <a:cubicBezTo>
                  <a:pt x="381" y="104"/>
                  <a:pt x="392" y="93"/>
                  <a:pt x="392" y="80"/>
                </a:cubicBezTo>
                <a:close/>
                <a:moveTo>
                  <a:pt x="80" y="456"/>
                </a:moveTo>
                <a:cubicBezTo>
                  <a:pt x="93" y="456"/>
                  <a:pt x="104" y="445"/>
                  <a:pt x="104" y="432"/>
                </a:cubicBezTo>
                <a:cubicBezTo>
                  <a:pt x="104" y="419"/>
                  <a:pt x="93" y="408"/>
                  <a:pt x="80" y="408"/>
                </a:cubicBezTo>
                <a:cubicBezTo>
                  <a:pt x="67" y="408"/>
                  <a:pt x="56" y="419"/>
                  <a:pt x="56" y="432"/>
                </a:cubicBezTo>
                <a:cubicBezTo>
                  <a:pt x="56" y="445"/>
                  <a:pt x="67" y="456"/>
                  <a:pt x="80" y="456"/>
                </a:cubicBezTo>
                <a:close/>
              </a:path>
            </a:pathLst>
          </a:custGeom>
          <a:solidFill>
            <a:srgbClr val="11B0AB"/>
          </a:solidFill>
          <a:ln>
            <a:noFill/>
          </a:ln>
        </p:spPr>
      </p:sp>
      <p:sp>
        <p:nvSpPr>
          <p:cNvPr id="16" name="c3-title"/>
          <p:cNvSpPr txBox="1"/>
          <p:nvPr/>
        </p:nvSpPr>
        <p:spPr>
          <a:xfrm>
            <a:off x="8331200" y="2413000"/>
            <a:ext cx="325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01E3C"/>
                </a:solidFill>
                <a:latin typeface="MiSans"/>
                <a:ea typeface="MiSans"/>
              </a:rPr>
              <a:t>Open and reproducible</a:t>
            </a:r>
            <a:endParaRPr lang="en-US" sz="1400" noProof="1"/>
          </a:p>
        </p:txBody>
      </p:sp>
      <p:sp>
        <p:nvSpPr>
          <p:cNvPr id="17" name="c3-body"/>
          <p:cNvSpPr txBox="1"/>
          <p:nvPr/>
        </p:nvSpPr>
        <p:spPr>
          <a:xfrm>
            <a:off x="8331200" y="2768600"/>
            <a:ext cx="32512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000" noProof="1">
                <a:solidFill>
                  <a:srgbClr val="5B6B7E"/>
                </a:solidFill>
                <a:latin typeface="MiSans"/>
                <a:ea typeface="MiSans"/>
              </a:rPr>
              <a:t>Full code, schema contracts, and trained models are open-sourced under reproducible standards. No hard-coded values, no hidden steps — every figure on these slides can be traced back to the warehouse.</a:t>
            </a:r>
            <a:endParaRPr lang="en-US" sz="1000" noProof="1"/>
          </a:p>
        </p:txBody>
      </p:sp>
      <p:sp>
        <p:nvSpPr>
          <p:cNvPr id="18" name="c3-foot"/>
          <p:cNvSpPr txBox="1"/>
          <p:nvPr/>
        </p:nvSpPr>
        <p:spPr>
          <a:xfrm>
            <a:off x="8331200" y="5029200"/>
            <a:ext cx="325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0C7C78"/>
                </a:solidFill>
                <a:latin typeface="JetBrains Mono"/>
                <a:ea typeface="JetBrains Mono"/>
              </a:rPr>
              <a:t>code · schema contracts · models open-sourced</a:t>
            </a:r>
            <a:endParaRPr lang="en-US" sz="900" noProof="1"/>
          </a:p>
        </p:txBody>
      </p:sp>
      <p:sp>
        <p:nvSpPr>
          <p:cNvPr id="19" name="footer-line"/>
          <p:cNvSpPr/>
          <p:nvPr/>
        </p:nvSpPr>
        <p:spPr>
          <a:xfrm>
            <a:off x="609600" y="6502400"/>
            <a:ext cx="10972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609600" y="66167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 spc="150" kern="0">
                <a:solidFill>
                  <a:srgbClr val="8494A3"/>
                </a:solidFill>
                <a:latin typeface="MiSans"/>
                <a:ea typeface="MiSans"/>
              </a:rPr>
              <a:t>CLIMATESHIELD 360 — HACKINSIGHT 2026 · CLIMATE TRACK</a:t>
            </a:r>
            <a:endParaRPr lang="en-US" sz="800" noProof="1"/>
          </a:p>
        </p:txBody>
      </p:sp>
      <p:sp>
        <p:nvSpPr>
          <p:cNvPr id="21" name="footer-page"/>
          <p:cNvSpPr txBox="1"/>
          <p:nvPr/>
        </p:nvSpPr>
        <p:spPr>
          <a:xfrm>
            <a:off x="10160000" y="6616700"/>
            <a:ext cx="1422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8494A3"/>
                </a:solidFill>
                <a:latin typeface="JetBrains Mono"/>
                <a:ea typeface="JetBrains Mono"/>
              </a:rPr>
              <a:t>08 / 10</a:t>
            </a:r>
            <a:endParaRPr lang="en-US" sz="8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318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50" kern="0">
                <a:solidFill>
                  <a:srgbClr val="35CFC9"/>
                </a:solidFill>
                <a:latin typeface="MiSans"/>
                <a:ea typeface="MiSans"/>
              </a:rPr>
              <a:t>08 · THE ADVANTAGE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FFFFFF"/>
                </a:solidFill>
                <a:latin typeface="Archivo Black"/>
                <a:ea typeface="Archivo Black"/>
              </a:rPr>
              <a:t>From reactive response to proactive climate resilience</a:t>
            </a:r>
            <a:endParaRPr lang="en-US" sz="2500" noProof="1"/>
          </a:p>
        </p:txBody>
      </p:sp>
      <p:sp>
        <p:nvSpPr>
          <p:cNvPr id="4" name="tick"/>
          <p:cNvSpPr/>
          <p:nvPr/>
        </p:nvSpPr>
        <p:spPr>
          <a:xfrm>
            <a:off x="609600" y="1219200"/>
            <a:ext cx="4572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5" name="grid-v"/>
          <p:cNvSpPr/>
          <p:nvPr/>
        </p:nvSpPr>
        <p:spPr>
          <a:xfrm>
            <a:off x="5994400" y="1778000"/>
            <a:ext cx="12700" cy="3352800"/>
          </a:xfrm>
          <a:prstGeom prst="rect">
            <a:avLst/>
          </a:prstGeom>
          <a:solidFill>
            <a:srgbClr val="22314F"/>
          </a:solidFill>
          <a:ln>
            <a:noFill/>
          </a:ln>
        </p:spPr>
      </p:sp>
      <p:sp>
        <p:nvSpPr>
          <p:cNvPr id="6" name="grid-h"/>
          <p:cNvSpPr/>
          <p:nvPr/>
        </p:nvSpPr>
        <p:spPr>
          <a:xfrm>
            <a:off x="609600" y="3429000"/>
            <a:ext cx="10972800" cy="12700"/>
          </a:xfrm>
          <a:prstGeom prst="rect">
            <a:avLst/>
          </a:prstGeom>
          <a:solidFill>
            <a:srgbClr val="22314F"/>
          </a:solidFill>
          <a:ln>
            <a:noFill/>
          </a:ln>
        </p:spPr>
      </p:sp>
      <p:sp>
        <p:nvSpPr>
          <p:cNvPr id="7" name="w1-num"/>
          <p:cNvSpPr txBox="1"/>
          <p:nvPr/>
        </p:nvSpPr>
        <p:spPr>
          <a:xfrm>
            <a:off x="609600" y="18034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35CFC9"/>
                </a:solidFill>
                <a:latin typeface="Archivo Black"/>
                <a:ea typeface="Archivo Black"/>
              </a:rPr>
              <a:t>01</a:t>
            </a:r>
            <a:endParaRPr lang="en-US" sz="2400" noProof="1"/>
          </a:p>
        </p:txBody>
      </p:sp>
      <p:sp>
        <p:nvSpPr>
          <p:cNvPr id="8" name="w1-title"/>
          <p:cNvSpPr txBox="1"/>
          <p:nvPr/>
        </p:nvSpPr>
        <p:spPr>
          <a:xfrm>
            <a:off x="609600" y="2286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Real-world impact</a:t>
            </a:r>
            <a:endParaRPr lang="en-US" sz="1300" noProof="1"/>
          </a:p>
        </p:txBody>
      </p:sp>
      <p:sp>
        <p:nvSpPr>
          <p:cNvPr id="9" name="w1-desc"/>
          <p:cNvSpPr txBox="1"/>
          <p:nvPr/>
        </p:nvSpPr>
        <p:spPr>
          <a:xfrm>
            <a:off x="609600" y="25908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8EA0B8"/>
                </a:solidFill>
                <a:latin typeface="MiSans"/>
                <a:ea typeface="MiSans"/>
              </a:rPr>
              <a:t>Purpose-built for Karachi's 16M+ citizens facing existential monsoon and extreme-heat threats.</a:t>
            </a:r>
            <a:endParaRPr lang="en-US" sz="1000" noProof="1"/>
          </a:p>
        </p:txBody>
      </p:sp>
      <p:sp>
        <p:nvSpPr>
          <p:cNvPr id="10" name="w2-num"/>
          <p:cNvSpPr txBox="1"/>
          <p:nvPr/>
        </p:nvSpPr>
        <p:spPr>
          <a:xfrm>
            <a:off x="6248400" y="18034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35CFC9"/>
                </a:solidFill>
                <a:latin typeface="Archivo Black"/>
                <a:ea typeface="Archivo Black"/>
              </a:rPr>
              <a:t>02</a:t>
            </a:r>
            <a:endParaRPr lang="en-US" sz="2400" noProof="1"/>
          </a:p>
        </p:txBody>
      </p:sp>
      <p:sp>
        <p:nvSpPr>
          <p:cNvPr id="11" name="w2-title"/>
          <p:cNvSpPr txBox="1"/>
          <p:nvPr/>
        </p:nvSpPr>
        <p:spPr>
          <a:xfrm>
            <a:off x="6248400" y="2286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Proven ML superiority</a:t>
            </a:r>
            <a:endParaRPr lang="en-US" sz="1300" noProof="1"/>
          </a:p>
        </p:txBody>
      </p:sp>
      <p:sp>
        <p:nvSpPr>
          <p:cNvPr id="12" name="w2-desc"/>
          <p:cNvSpPr txBox="1"/>
          <p:nvPr/>
        </p:nvSpPr>
        <p:spPr>
          <a:xfrm>
            <a:off x="6248400" y="25908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8EA0B8"/>
                </a:solidFill>
                <a:latin typeface="MiSans"/>
                <a:ea typeface="MiSans"/>
              </a:rPr>
              <a:t>LightGBM verified at 35.1% lower MAE than the persistence baseline, on strictly out-of-time 2025–26 data.</a:t>
            </a:r>
            <a:endParaRPr lang="en-US" sz="1000" noProof="1"/>
          </a:p>
        </p:txBody>
      </p:sp>
      <p:sp>
        <p:nvSpPr>
          <p:cNvPr id="13" name="w3-num"/>
          <p:cNvSpPr txBox="1"/>
          <p:nvPr/>
        </p:nvSpPr>
        <p:spPr>
          <a:xfrm>
            <a:off x="609600" y="36068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35CFC9"/>
                </a:solidFill>
                <a:latin typeface="Archivo Black"/>
                <a:ea typeface="Archivo Black"/>
              </a:rPr>
              <a:t>03</a:t>
            </a:r>
            <a:endParaRPr lang="en-US" sz="2400" noProof="1"/>
          </a:p>
        </p:txBody>
      </p:sp>
      <p:sp>
        <p:nvSpPr>
          <p:cNvPr id="14" name="w3-title"/>
          <p:cNvSpPr txBox="1"/>
          <p:nvPr/>
        </p:nvSpPr>
        <p:spPr>
          <a:xfrm>
            <a:off x="609600" y="4089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End-to-end operational readiness</a:t>
            </a:r>
            <a:endParaRPr lang="en-US" sz="1300" noProof="1"/>
          </a:p>
        </p:txBody>
      </p:sp>
      <p:sp>
        <p:nvSpPr>
          <p:cNvPr id="15" name="w3-desc"/>
          <p:cNvSpPr txBox="1"/>
          <p:nvPr/>
        </p:nvSpPr>
        <p:spPr>
          <a:xfrm>
            <a:off x="609600" y="43942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8EA0B8"/>
                </a:solidFill>
                <a:latin typeface="MiSans"/>
                <a:ea typeface="MiSans"/>
              </a:rPr>
              <a:t>Production stack: DuckDB warehouse, FastAPI backend, MapLibre 3D dashboard, and the emergency action planner.</a:t>
            </a:r>
            <a:endParaRPr lang="en-US" sz="1000" noProof="1"/>
          </a:p>
        </p:txBody>
      </p:sp>
      <p:sp>
        <p:nvSpPr>
          <p:cNvPr id="16" name="w4-num"/>
          <p:cNvSpPr txBox="1"/>
          <p:nvPr/>
        </p:nvSpPr>
        <p:spPr>
          <a:xfrm>
            <a:off x="6248400" y="36068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35CFC9"/>
                </a:solidFill>
                <a:latin typeface="Archivo Black"/>
                <a:ea typeface="Archivo Black"/>
              </a:rPr>
              <a:t>04</a:t>
            </a:r>
            <a:endParaRPr lang="en-US" sz="2400" noProof="1"/>
          </a:p>
        </p:txBody>
      </p:sp>
      <p:sp>
        <p:nvSpPr>
          <p:cNvPr id="17" name="w4-title"/>
          <p:cNvSpPr txBox="1"/>
          <p:nvPr/>
        </p:nvSpPr>
        <p:spPr>
          <a:xfrm>
            <a:off x="6248400" y="4089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Data integrity first</a:t>
            </a:r>
            <a:endParaRPr lang="en-US" sz="1300" noProof="1"/>
          </a:p>
        </p:txBody>
      </p:sp>
      <p:sp>
        <p:nvSpPr>
          <p:cNvPr id="18" name="w4-desc"/>
          <p:cNvSpPr txBox="1"/>
          <p:nvPr/>
        </p:nvSpPr>
        <p:spPr>
          <a:xfrm>
            <a:off x="6248400" y="43942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8EA0B8"/>
                </a:solidFill>
                <a:latin typeface="MiSans"/>
                <a:ea typeface="MiSans"/>
              </a:rPr>
              <a:t>100% automated hourly ingestion, zero hard-coded values, and complete scientific accountability.</a:t>
            </a:r>
            <a:endParaRPr lang="en-US" sz="1000" noProof="1"/>
          </a:p>
        </p:txBody>
      </p:sp>
      <p:sp>
        <p:nvSpPr>
          <p:cNvPr id="19" name="quote"/>
          <p:cNvSpPr txBox="1"/>
          <p:nvPr/>
        </p:nvSpPr>
        <p:spPr>
          <a:xfrm>
            <a:off x="1524000" y="54356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600" noProof="1">
                <a:solidFill>
                  <a:srgbClr val="35CFC9"/>
                </a:solidFill>
                <a:latin typeface="MiSans"/>
                <a:ea typeface="MiSans"/>
              </a:rPr>
              <a:t>"</a:t>
            </a:r>
            <a:r>
              <a:rPr lang="en-US" sz="1350" noProof="1">
                <a:solidFill>
                  <a:srgbClr val="DCE6F2"/>
                </a:solidFill>
                <a:latin typeface="MiSans"/>
                <a:ea typeface="MiSans"/>
              </a:rPr>
              <a:t>ClimateShield 360 transforms fragmented climate data into timely, decisive civic action — protecting Karachi's citizens before the crisis hits.</a:t>
            </a:r>
            <a:r>
              <a:rPr lang="en-US" sz="1600" noProof="1">
                <a:solidFill>
                  <a:srgbClr val="35CFC9"/>
                </a:solidFill>
                <a:latin typeface="MiSans"/>
                <a:ea typeface="MiSans"/>
              </a:rPr>
              <a:t>"</a:t>
            </a:r>
            <a:endParaRPr lang="en-US" sz="1350" noProof="1"/>
          </a:p>
        </p:txBody>
      </p:sp>
      <p:sp>
        <p:nvSpPr>
          <p:cNvPr id="20" name="footer-page"/>
          <p:cNvSpPr txBox="1"/>
          <p:nvPr/>
        </p:nvSpPr>
        <p:spPr>
          <a:xfrm>
            <a:off x="10160000" y="6616700"/>
            <a:ext cx="1422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850" noProof="1">
                <a:solidFill>
                  <a:srgbClr val="4A5B78"/>
                </a:solidFill>
                <a:latin typeface="JetBrains Mono"/>
                <a:ea typeface="JetBrains Mono"/>
              </a:rPr>
              <a:t>09 / 10</a:t>
            </a:r>
            <a:endParaRPr lang="en-US" sz="8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2"/>
          <a:srcRect l="-66" r="-66"/>
          <a:stretch>
            <a:fillRect/>
          </a:stretch>
        </p:blipFill>
        <p:spPr>
          <a:xfrm>
            <a:off x="4343400" y="1117600"/>
            <a:ext cx="3505200" cy="2755900"/>
          </a:xfrm>
          <a:prstGeom prst="rect">
            <a:avLst/>
          </a:prstGeom>
          <a:ln>
            <a:noFill/>
          </a:ln>
        </p:spPr>
      </p:pic>
      <p:sp>
        <p:nvSpPr>
          <p:cNvPr id="3" name="tick"/>
          <p:cNvSpPr/>
          <p:nvPr/>
        </p:nvSpPr>
        <p:spPr>
          <a:xfrm>
            <a:off x="5829300" y="4089400"/>
            <a:ext cx="533400" cy="38100"/>
          </a:xfrm>
          <a:prstGeom prst="rect">
            <a:avLst/>
          </a:prstGeom>
          <a:solidFill>
            <a:srgbClr val="11B0AB"/>
          </a:solidFill>
          <a:ln>
            <a:noFill/>
          </a:ln>
        </p:spPr>
      </p:sp>
      <p:sp>
        <p:nvSpPr>
          <p:cNvPr id="4" name="thanks"/>
          <p:cNvSpPr txBox="1"/>
          <p:nvPr/>
        </p:nvSpPr>
        <p:spPr>
          <a:xfrm>
            <a:off x="609600" y="4318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FFFFFF"/>
                </a:solidFill>
                <a:latin typeface="Archivo Black"/>
                <a:ea typeface="Archivo Black"/>
              </a:rPr>
              <a:t>Thank you.</a:t>
            </a:r>
            <a:endParaRPr lang="en-US" sz="2600" noProof="1"/>
          </a:p>
        </p:txBody>
      </p:sp>
      <p:sp>
        <p:nvSpPr>
          <p:cNvPr id="5" name="sub"/>
          <p:cNvSpPr txBox="1"/>
          <p:nvPr/>
        </p:nvSpPr>
        <p:spPr>
          <a:xfrm>
            <a:off x="609600" y="48514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8EA0B8"/>
                </a:solidFill>
                <a:latin typeface="MiSans"/>
                <a:ea typeface="MiSans"/>
              </a:rPr>
              <a:t>We are ready for your questions.</a:t>
            </a:r>
            <a:endParaRPr lang="en-US" sz="1200" noProof="1"/>
          </a:p>
        </p:txBody>
      </p:sp>
      <p:sp>
        <p:nvSpPr>
          <p:cNvPr id="6" name="links"/>
          <p:cNvSpPr txBox="1"/>
          <p:nvPr/>
        </p:nvSpPr>
        <p:spPr>
          <a:xfrm>
            <a:off x="609600" y="52832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35CFC9"/>
                </a:solidFill>
                <a:latin typeface="JetBrains Mono"/>
                <a:ea typeface="JetBrains Mono"/>
              </a:rPr>
              <a:t>live  localhost:5173       ·       repo  github.com/Afzal-Iqbal/climateshield-360</a:t>
            </a:r>
            <a:endParaRPr lang="en-US" sz="1000" noProof="1"/>
          </a:p>
        </p:txBody>
      </p:sp>
      <p:sp>
        <p:nvSpPr>
          <p:cNvPr id="7" name="team"/>
          <p:cNvSpPr txBox="1"/>
          <p:nvPr/>
        </p:nvSpPr>
        <p:spPr>
          <a:xfrm>
            <a:off x="609600" y="56896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5F7089"/>
                </a:solidFill>
                <a:latin typeface="MiSans"/>
                <a:ea typeface="MiSans"/>
              </a:rPr>
              <a:t>Syed Muhammad Hunain · Muhammad Afzal · Makshoof Kamal Jilani — HackInsight 2026 · Climate Track (Data-to-Decision)</a:t>
            </a:r>
            <a:endParaRPr lang="en-US" sz="9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10</Slides>
</Properties>
</file>

<file path=docProps/core.xml><?xml version="1.0" encoding="utf-8"?>
<cp:coreProperties xmlns:dc="http://purl.org/dc/elements/1.1/" xmlns:cp="http://schemas.openxmlformats.org/package/2006/metadata/core-properties">
  <dc:title>ClimateShield 360 — HackInsight 2026 Climate Track Pitch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